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56" r:id="rId2"/>
    <p:sldId id="258" r:id="rId3"/>
    <p:sldId id="259" r:id="rId4"/>
    <p:sldId id="257"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5197B5A-132A-47AA-B255-78C866A4B0B5}">
          <p14:sldIdLst>
            <p14:sldId id="256"/>
            <p14:sldId id="258"/>
            <p14:sldId id="259"/>
            <p14:sldId id="257"/>
            <p14:sldId id="260"/>
            <p14:sldId id="261"/>
            <p14:sldId id="262"/>
            <p14:sldId id="263"/>
            <p14:sldId id="264"/>
            <p14:sldId id="265"/>
            <p14:sldId id="266"/>
            <p14:sldId id="267"/>
            <p14:sldId id="268"/>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092F6B-BEC5-4C11-BE11-20E07F078815}" v="664" dt="2025-10-13T11:48:13.0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327" autoAdjust="0"/>
  </p:normalViewPr>
  <p:slideViewPr>
    <p:cSldViewPr snapToGrid="0">
      <p:cViewPr varScale="1">
        <p:scale>
          <a:sx n="74" d="100"/>
          <a:sy n="74" d="100"/>
        </p:scale>
        <p:origin x="104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B53578-B2D7-CB5C-6556-341A8A00EF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SUMMARY </a:t>
            </a:r>
          </a:p>
        </p:txBody>
      </p:sp>
      <p:sp>
        <p:nvSpPr>
          <p:cNvPr id="3" name="Date Placeholder 2">
            <a:extLst>
              <a:ext uri="{FF2B5EF4-FFF2-40B4-BE49-F238E27FC236}">
                <a16:creationId xmlns:a16="http://schemas.microsoft.com/office/drawing/2014/main" id="{DF11123B-4EAD-670E-9F23-B35C963380E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6A42054-9629-49A0-9BEB-B90DE9867D79}" type="datetimeFigureOut">
              <a:rPr lang="en-IN" smtClean="0"/>
              <a:t>20-02-2026</a:t>
            </a:fld>
            <a:endParaRPr lang="en-IN"/>
          </a:p>
        </p:txBody>
      </p:sp>
      <p:sp>
        <p:nvSpPr>
          <p:cNvPr id="4" name="Footer Placeholder 3">
            <a:extLst>
              <a:ext uri="{FF2B5EF4-FFF2-40B4-BE49-F238E27FC236}">
                <a16:creationId xmlns:a16="http://schemas.microsoft.com/office/drawing/2014/main" id="{5A365B72-5B5B-5ECA-08CE-2FE012B27F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EF92F70C-B946-6417-925B-BA638747791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CDAF8-623A-4A00-BC80-67D3A255BFFB}" type="slidenum">
              <a:rPr lang="en-IN" smtClean="0"/>
              <a:t>‹#›</a:t>
            </a:fld>
            <a:endParaRPr lang="en-IN"/>
          </a:p>
        </p:txBody>
      </p:sp>
    </p:spTree>
    <p:extLst>
      <p:ext uri="{BB962C8B-B14F-4D97-AF65-F5344CB8AC3E}">
        <p14:creationId xmlns:p14="http://schemas.microsoft.com/office/powerpoint/2010/main" val="230555275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SUMMARY </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1BE872-9429-40A0-8248-49D94C3C0196}" type="datetimeFigureOut">
              <a:rPr lang="en-IN" smtClean="0"/>
              <a:t>20-02-2026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FC40EC-8A3A-4FE8-B3E5-9A7E2B5E8C84}" type="slidenum">
              <a:rPr lang="en-IN" smtClean="0"/>
              <a:t>‹#›</a:t>
            </a:fld>
            <a:endParaRPr lang="en-IN"/>
          </a:p>
        </p:txBody>
      </p:sp>
    </p:spTree>
    <p:extLst>
      <p:ext uri="{BB962C8B-B14F-4D97-AF65-F5344CB8AC3E}">
        <p14:creationId xmlns:p14="http://schemas.microsoft.com/office/powerpoint/2010/main" val="147562699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SUMMARY </a:t>
            </a:r>
          </a:p>
        </p:txBody>
      </p:sp>
      <p:sp>
        <p:nvSpPr>
          <p:cNvPr id="5" name="Slide Number Placeholder 4"/>
          <p:cNvSpPr>
            <a:spLocks noGrp="1"/>
          </p:cNvSpPr>
          <p:nvPr>
            <p:ph type="sldNum" sz="quarter" idx="5"/>
          </p:nvPr>
        </p:nvSpPr>
        <p:spPr/>
        <p:txBody>
          <a:bodyPr/>
          <a:lstStyle/>
          <a:p>
            <a:fld id="{70FC40EC-8A3A-4FE8-B3E5-9A7E2B5E8C84}" type="slidenum">
              <a:rPr lang="en-IN" smtClean="0"/>
              <a:t>2</a:t>
            </a:fld>
            <a:endParaRPr lang="en-IN"/>
          </a:p>
        </p:txBody>
      </p:sp>
    </p:spTree>
    <p:extLst>
      <p:ext uri="{BB962C8B-B14F-4D97-AF65-F5344CB8AC3E}">
        <p14:creationId xmlns:p14="http://schemas.microsoft.com/office/powerpoint/2010/main" val="1683586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SUMMARY </a:t>
            </a:r>
          </a:p>
        </p:txBody>
      </p:sp>
      <p:sp>
        <p:nvSpPr>
          <p:cNvPr id="5" name="Slide Number Placeholder 4"/>
          <p:cNvSpPr>
            <a:spLocks noGrp="1"/>
          </p:cNvSpPr>
          <p:nvPr>
            <p:ph type="sldNum" sz="quarter" idx="5"/>
          </p:nvPr>
        </p:nvSpPr>
        <p:spPr/>
        <p:txBody>
          <a:bodyPr/>
          <a:lstStyle/>
          <a:p>
            <a:fld id="{70FC40EC-8A3A-4FE8-B3E5-9A7E2B5E8C84}" type="slidenum">
              <a:rPr lang="en-IN" smtClean="0"/>
              <a:t>3</a:t>
            </a:fld>
            <a:endParaRPr lang="en-IN"/>
          </a:p>
        </p:txBody>
      </p:sp>
    </p:spTree>
    <p:extLst>
      <p:ext uri="{BB962C8B-B14F-4D97-AF65-F5344CB8AC3E}">
        <p14:creationId xmlns:p14="http://schemas.microsoft.com/office/powerpoint/2010/main" val="3299008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SUMMARY </a:t>
            </a:r>
          </a:p>
        </p:txBody>
      </p:sp>
      <p:sp>
        <p:nvSpPr>
          <p:cNvPr id="5" name="Slide Number Placeholder 4"/>
          <p:cNvSpPr>
            <a:spLocks noGrp="1"/>
          </p:cNvSpPr>
          <p:nvPr>
            <p:ph type="sldNum" sz="quarter" idx="5"/>
          </p:nvPr>
        </p:nvSpPr>
        <p:spPr/>
        <p:txBody>
          <a:bodyPr/>
          <a:lstStyle/>
          <a:p>
            <a:fld id="{70FC40EC-8A3A-4FE8-B3E5-9A7E2B5E8C84}" type="slidenum">
              <a:rPr lang="en-IN" smtClean="0"/>
              <a:t>19</a:t>
            </a:fld>
            <a:endParaRPr lang="en-IN"/>
          </a:p>
        </p:txBody>
      </p:sp>
    </p:spTree>
    <p:extLst>
      <p:ext uri="{BB962C8B-B14F-4D97-AF65-F5344CB8AC3E}">
        <p14:creationId xmlns:p14="http://schemas.microsoft.com/office/powerpoint/2010/main" val="197503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524E-747D-C8B7-0B87-F02C8BCBB2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473253B-406F-C87B-D2BC-BA1E4F7CC2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F3E06E7-75FB-BD00-E3A6-622A6FD0E0FB}"/>
              </a:ext>
            </a:extLst>
          </p:cNvPr>
          <p:cNvSpPr>
            <a:spLocks noGrp="1"/>
          </p:cNvSpPr>
          <p:nvPr>
            <p:ph type="dt" sz="half" idx="10"/>
          </p:nvPr>
        </p:nvSpPr>
        <p:spPr/>
        <p:txBody>
          <a:bodyPr/>
          <a:lstStyle/>
          <a:p>
            <a:fld id="{B716FCD9-C792-4F89-9517-B07CE0BB71D4}" type="datetimeFigureOut">
              <a:rPr lang="en-IN" smtClean="0"/>
              <a:t>20-02-2026</a:t>
            </a:fld>
            <a:endParaRPr lang="en-IN"/>
          </a:p>
        </p:txBody>
      </p:sp>
      <p:sp>
        <p:nvSpPr>
          <p:cNvPr id="5" name="Footer Placeholder 4">
            <a:extLst>
              <a:ext uri="{FF2B5EF4-FFF2-40B4-BE49-F238E27FC236}">
                <a16:creationId xmlns:a16="http://schemas.microsoft.com/office/drawing/2014/main" id="{5567F9D2-08C7-7905-243C-85DB3553E5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E4970D-1133-6F3D-FE91-A8A4B69C2B30}"/>
              </a:ext>
            </a:extLst>
          </p:cNvPr>
          <p:cNvSpPr>
            <a:spLocks noGrp="1"/>
          </p:cNvSpPr>
          <p:nvPr>
            <p:ph type="sldNum" sz="quarter" idx="12"/>
          </p:nvPr>
        </p:nvSpPr>
        <p:spPr/>
        <p:txBody>
          <a:bodyPr/>
          <a:lstStyle/>
          <a:p>
            <a:fld id="{ACAD84AE-C5E3-47CE-B679-D11593ADBD9D}" type="slidenum">
              <a:rPr lang="en-IN" smtClean="0"/>
              <a:t>‹#›</a:t>
            </a:fld>
            <a:endParaRPr lang="en-IN"/>
          </a:p>
        </p:txBody>
      </p:sp>
    </p:spTree>
    <p:extLst>
      <p:ext uri="{BB962C8B-B14F-4D97-AF65-F5344CB8AC3E}">
        <p14:creationId xmlns:p14="http://schemas.microsoft.com/office/powerpoint/2010/main" val="4247857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A2F97-C5E4-7CDD-5ACB-036D10F9CE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2D8C28-723E-4FB6-7F36-9FA5DCAC0D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BC0A04-38E9-FB96-456D-66ACF62BC810}"/>
              </a:ext>
            </a:extLst>
          </p:cNvPr>
          <p:cNvSpPr>
            <a:spLocks noGrp="1"/>
          </p:cNvSpPr>
          <p:nvPr>
            <p:ph type="dt" sz="half" idx="10"/>
          </p:nvPr>
        </p:nvSpPr>
        <p:spPr/>
        <p:txBody>
          <a:bodyPr/>
          <a:lstStyle/>
          <a:p>
            <a:fld id="{B716FCD9-C792-4F89-9517-B07CE0BB71D4}" type="datetimeFigureOut">
              <a:rPr lang="en-IN" smtClean="0"/>
              <a:t>20-02-2026</a:t>
            </a:fld>
            <a:endParaRPr lang="en-IN"/>
          </a:p>
        </p:txBody>
      </p:sp>
      <p:sp>
        <p:nvSpPr>
          <p:cNvPr id="5" name="Footer Placeholder 4">
            <a:extLst>
              <a:ext uri="{FF2B5EF4-FFF2-40B4-BE49-F238E27FC236}">
                <a16:creationId xmlns:a16="http://schemas.microsoft.com/office/drawing/2014/main" id="{30891A43-4343-99C0-6B3E-8C1DF84B05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8ED2FC-E6FA-22A9-65DA-F182F648386B}"/>
              </a:ext>
            </a:extLst>
          </p:cNvPr>
          <p:cNvSpPr>
            <a:spLocks noGrp="1"/>
          </p:cNvSpPr>
          <p:nvPr>
            <p:ph type="sldNum" sz="quarter" idx="12"/>
          </p:nvPr>
        </p:nvSpPr>
        <p:spPr/>
        <p:txBody>
          <a:bodyPr/>
          <a:lstStyle/>
          <a:p>
            <a:fld id="{ACAD84AE-C5E3-47CE-B679-D11593ADBD9D}" type="slidenum">
              <a:rPr lang="en-IN" smtClean="0"/>
              <a:t>‹#›</a:t>
            </a:fld>
            <a:endParaRPr lang="en-IN"/>
          </a:p>
        </p:txBody>
      </p:sp>
    </p:spTree>
    <p:extLst>
      <p:ext uri="{BB962C8B-B14F-4D97-AF65-F5344CB8AC3E}">
        <p14:creationId xmlns:p14="http://schemas.microsoft.com/office/powerpoint/2010/main" val="3209181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135C9-E034-DC49-8D15-9519BB03E7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35E948D-4A47-558E-8EC6-68D3FDDE09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C6D3FD-57BB-9DEC-231C-155280A94CC8}"/>
              </a:ext>
            </a:extLst>
          </p:cNvPr>
          <p:cNvSpPr>
            <a:spLocks noGrp="1"/>
          </p:cNvSpPr>
          <p:nvPr>
            <p:ph type="dt" sz="half" idx="10"/>
          </p:nvPr>
        </p:nvSpPr>
        <p:spPr/>
        <p:txBody>
          <a:bodyPr/>
          <a:lstStyle/>
          <a:p>
            <a:fld id="{B716FCD9-C792-4F89-9517-B07CE0BB71D4}" type="datetimeFigureOut">
              <a:rPr lang="en-IN" smtClean="0"/>
              <a:t>20-02-2026</a:t>
            </a:fld>
            <a:endParaRPr lang="en-IN"/>
          </a:p>
        </p:txBody>
      </p:sp>
      <p:sp>
        <p:nvSpPr>
          <p:cNvPr id="5" name="Footer Placeholder 4">
            <a:extLst>
              <a:ext uri="{FF2B5EF4-FFF2-40B4-BE49-F238E27FC236}">
                <a16:creationId xmlns:a16="http://schemas.microsoft.com/office/drawing/2014/main" id="{0945A34A-9E06-6D2B-4F20-2E892BDB9D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6B2504-8BD2-129E-3C6E-6B866EAAFD32}"/>
              </a:ext>
            </a:extLst>
          </p:cNvPr>
          <p:cNvSpPr>
            <a:spLocks noGrp="1"/>
          </p:cNvSpPr>
          <p:nvPr>
            <p:ph type="sldNum" sz="quarter" idx="12"/>
          </p:nvPr>
        </p:nvSpPr>
        <p:spPr/>
        <p:txBody>
          <a:bodyPr/>
          <a:lstStyle/>
          <a:p>
            <a:fld id="{ACAD84AE-C5E3-47CE-B679-D11593ADBD9D}" type="slidenum">
              <a:rPr lang="en-IN" smtClean="0"/>
              <a:t>‹#›</a:t>
            </a:fld>
            <a:endParaRPr lang="en-IN"/>
          </a:p>
        </p:txBody>
      </p:sp>
    </p:spTree>
    <p:extLst>
      <p:ext uri="{BB962C8B-B14F-4D97-AF65-F5344CB8AC3E}">
        <p14:creationId xmlns:p14="http://schemas.microsoft.com/office/powerpoint/2010/main" val="13367081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914AD-931A-CB89-B918-DAE909D945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88A0B6-5039-8056-D6F1-90A0265069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6304380-ABD6-EDC5-0F58-5FFE43E655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90622A-445D-CBA4-94D7-6B0A40ED0F8F}"/>
              </a:ext>
            </a:extLst>
          </p:cNvPr>
          <p:cNvSpPr>
            <a:spLocks noGrp="1"/>
          </p:cNvSpPr>
          <p:nvPr>
            <p:ph type="dt" sz="half" idx="10"/>
          </p:nvPr>
        </p:nvSpPr>
        <p:spPr/>
        <p:txBody>
          <a:bodyPr/>
          <a:lstStyle/>
          <a:p>
            <a:fld id="{B716FCD9-C792-4F89-9517-B07CE0BB71D4}" type="datetimeFigureOut">
              <a:rPr lang="en-IN" smtClean="0"/>
              <a:t>20-02-2026</a:t>
            </a:fld>
            <a:endParaRPr lang="en-IN"/>
          </a:p>
        </p:txBody>
      </p:sp>
      <p:sp>
        <p:nvSpPr>
          <p:cNvPr id="6" name="Footer Placeholder 5">
            <a:extLst>
              <a:ext uri="{FF2B5EF4-FFF2-40B4-BE49-F238E27FC236}">
                <a16:creationId xmlns:a16="http://schemas.microsoft.com/office/drawing/2014/main" id="{4CD8A42F-DD8C-D230-CE79-D6EB5D8A87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C4CCD2-4624-7217-7DFB-56FBFFB13C85}"/>
              </a:ext>
            </a:extLst>
          </p:cNvPr>
          <p:cNvSpPr>
            <a:spLocks noGrp="1"/>
          </p:cNvSpPr>
          <p:nvPr>
            <p:ph type="sldNum" sz="quarter" idx="12"/>
          </p:nvPr>
        </p:nvSpPr>
        <p:spPr/>
        <p:txBody>
          <a:bodyPr/>
          <a:lstStyle/>
          <a:p>
            <a:fld id="{ACAD84AE-C5E3-47CE-B679-D11593ADBD9D}" type="slidenum">
              <a:rPr lang="en-IN" smtClean="0"/>
              <a:t>‹#›</a:t>
            </a:fld>
            <a:endParaRPr lang="en-IN"/>
          </a:p>
        </p:txBody>
      </p:sp>
    </p:spTree>
    <p:extLst>
      <p:ext uri="{BB962C8B-B14F-4D97-AF65-F5344CB8AC3E}">
        <p14:creationId xmlns:p14="http://schemas.microsoft.com/office/powerpoint/2010/main" val="1882007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DAF44-7AD4-8F4C-C4DC-AA0B0160E88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D127F4-2F1A-D032-D411-5848792ACD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0BEE70-1F66-AF21-1D64-2C07195DB4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717F404-D0EB-F140-08D6-6868BB6C62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3E0958-491E-D0FE-3137-4FAA0075C6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C243AAE-9A19-2EE2-5DC3-0ABFD441AD2B}"/>
              </a:ext>
            </a:extLst>
          </p:cNvPr>
          <p:cNvSpPr>
            <a:spLocks noGrp="1"/>
          </p:cNvSpPr>
          <p:nvPr>
            <p:ph type="dt" sz="half" idx="10"/>
          </p:nvPr>
        </p:nvSpPr>
        <p:spPr/>
        <p:txBody>
          <a:bodyPr/>
          <a:lstStyle/>
          <a:p>
            <a:fld id="{B716FCD9-C792-4F89-9517-B07CE0BB71D4}" type="datetimeFigureOut">
              <a:rPr lang="en-IN" smtClean="0"/>
              <a:t>20-02-2026</a:t>
            </a:fld>
            <a:endParaRPr lang="en-IN"/>
          </a:p>
        </p:txBody>
      </p:sp>
      <p:sp>
        <p:nvSpPr>
          <p:cNvPr id="8" name="Footer Placeholder 7">
            <a:extLst>
              <a:ext uri="{FF2B5EF4-FFF2-40B4-BE49-F238E27FC236}">
                <a16:creationId xmlns:a16="http://schemas.microsoft.com/office/drawing/2014/main" id="{B505C37A-9234-807E-12E9-34FE90361A2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CC3A552-6560-665D-1D6F-FBB9968F78D5}"/>
              </a:ext>
            </a:extLst>
          </p:cNvPr>
          <p:cNvSpPr>
            <a:spLocks noGrp="1"/>
          </p:cNvSpPr>
          <p:nvPr>
            <p:ph type="sldNum" sz="quarter" idx="12"/>
          </p:nvPr>
        </p:nvSpPr>
        <p:spPr/>
        <p:txBody>
          <a:bodyPr/>
          <a:lstStyle/>
          <a:p>
            <a:fld id="{ACAD84AE-C5E3-47CE-B679-D11593ADBD9D}" type="slidenum">
              <a:rPr lang="en-IN" smtClean="0"/>
              <a:t>‹#›</a:t>
            </a:fld>
            <a:endParaRPr lang="en-IN"/>
          </a:p>
        </p:txBody>
      </p:sp>
    </p:spTree>
    <p:extLst>
      <p:ext uri="{BB962C8B-B14F-4D97-AF65-F5344CB8AC3E}">
        <p14:creationId xmlns:p14="http://schemas.microsoft.com/office/powerpoint/2010/main" val="34342096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2875F-8331-7F50-3750-A1F693DB8CE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1DF5626-7FC7-C405-3AEF-A9AE5984A939}"/>
              </a:ext>
            </a:extLst>
          </p:cNvPr>
          <p:cNvSpPr>
            <a:spLocks noGrp="1"/>
          </p:cNvSpPr>
          <p:nvPr>
            <p:ph type="dt" sz="half" idx="10"/>
          </p:nvPr>
        </p:nvSpPr>
        <p:spPr/>
        <p:txBody>
          <a:bodyPr/>
          <a:lstStyle/>
          <a:p>
            <a:fld id="{B716FCD9-C792-4F89-9517-B07CE0BB71D4}" type="datetimeFigureOut">
              <a:rPr lang="en-IN" smtClean="0"/>
              <a:t>20-02-2026</a:t>
            </a:fld>
            <a:endParaRPr lang="en-IN"/>
          </a:p>
        </p:txBody>
      </p:sp>
      <p:sp>
        <p:nvSpPr>
          <p:cNvPr id="4" name="Footer Placeholder 3">
            <a:extLst>
              <a:ext uri="{FF2B5EF4-FFF2-40B4-BE49-F238E27FC236}">
                <a16:creationId xmlns:a16="http://schemas.microsoft.com/office/drawing/2014/main" id="{CC413123-0B91-786C-8E60-5D59569401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A28E5ED-9DAA-9D3D-9EB5-A76647CE28F1}"/>
              </a:ext>
            </a:extLst>
          </p:cNvPr>
          <p:cNvSpPr>
            <a:spLocks noGrp="1"/>
          </p:cNvSpPr>
          <p:nvPr>
            <p:ph type="sldNum" sz="quarter" idx="12"/>
          </p:nvPr>
        </p:nvSpPr>
        <p:spPr/>
        <p:txBody>
          <a:bodyPr/>
          <a:lstStyle/>
          <a:p>
            <a:fld id="{ACAD84AE-C5E3-47CE-B679-D11593ADBD9D}" type="slidenum">
              <a:rPr lang="en-IN" smtClean="0"/>
              <a:t>‹#›</a:t>
            </a:fld>
            <a:endParaRPr lang="en-IN"/>
          </a:p>
        </p:txBody>
      </p:sp>
    </p:spTree>
    <p:extLst>
      <p:ext uri="{BB962C8B-B14F-4D97-AF65-F5344CB8AC3E}">
        <p14:creationId xmlns:p14="http://schemas.microsoft.com/office/powerpoint/2010/main" val="385037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96744F-3CF2-BE81-33D1-E1A53E7A710D}"/>
              </a:ext>
            </a:extLst>
          </p:cNvPr>
          <p:cNvSpPr>
            <a:spLocks noGrp="1"/>
          </p:cNvSpPr>
          <p:nvPr>
            <p:ph type="dt" sz="half" idx="10"/>
          </p:nvPr>
        </p:nvSpPr>
        <p:spPr/>
        <p:txBody>
          <a:bodyPr/>
          <a:lstStyle/>
          <a:p>
            <a:fld id="{B716FCD9-C792-4F89-9517-B07CE0BB71D4}" type="datetimeFigureOut">
              <a:rPr lang="en-IN" smtClean="0"/>
              <a:t>20-02-2026</a:t>
            </a:fld>
            <a:endParaRPr lang="en-IN"/>
          </a:p>
        </p:txBody>
      </p:sp>
      <p:sp>
        <p:nvSpPr>
          <p:cNvPr id="3" name="Footer Placeholder 2">
            <a:extLst>
              <a:ext uri="{FF2B5EF4-FFF2-40B4-BE49-F238E27FC236}">
                <a16:creationId xmlns:a16="http://schemas.microsoft.com/office/drawing/2014/main" id="{EA75D6A5-CDC9-9832-5783-B9E0BF28FB9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D4DC22B-CE47-D2E5-D3AF-A128AAD7927B}"/>
              </a:ext>
            </a:extLst>
          </p:cNvPr>
          <p:cNvSpPr>
            <a:spLocks noGrp="1"/>
          </p:cNvSpPr>
          <p:nvPr>
            <p:ph type="sldNum" sz="quarter" idx="12"/>
          </p:nvPr>
        </p:nvSpPr>
        <p:spPr/>
        <p:txBody>
          <a:bodyPr/>
          <a:lstStyle/>
          <a:p>
            <a:fld id="{ACAD84AE-C5E3-47CE-B679-D11593ADBD9D}" type="slidenum">
              <a:rPr lang="en-IN" smtClean="0"/>
              <a:t>‹#›</a:t>
            </a:fld>
            <a:endParaRPr lang="en-IN"/>
          </a:p>
        </p:txBody>
      </p:sp>
    </p:spTree>
    <p:extLst>
      <p:ext uri="{BB962C8B-B14F-4D97-AF65-F5344CB8AC3E}">
        <p14:creationId xmlns:p14="http://schemas.microsoft.com/office/powerpoint/2010/main" val="25722227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AFE94-733F-56AB-2588-0F37806895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1AB0644-56D0-3D45-D028-A6203E13C1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2BDF11C-B598-EF69-D9A5-58C71E2CFA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3EE8BE-9157-DFC0-632C-63272D4EAFD5}"/>
              </a:ext>
            </a:extLst>
          </p:cNvPr>
          <p:cNvSpPr>
            <a:spLocks noGrp="1"/>
          </p:cNvSpPr>
          <p:nvPr>
            <p:ph type="dt" sz="half" idx="10"/>
          </p:nvPr>
        </p:nvSpPr>
        <p:spPr/>
        <p:txBody>
          <a:bodyPr/>
          <a:lstStyle/>
          <a:p>
            <a:fld id="{B716FCD9-C792-4F89-9517-B07CE0BB71D4}" type="datetimeFigureOut">
              <a:rPr lang="en-IN" smtClean="0"/>
              <a:t>20-02-2026</a:t>
            </a:fld>
            <a:endParaRPr lang="en-IN"/>
          </a:p>
        </p:txBody>
      </p:sp>
      <p:sp>
        <p:nvSpPr>
          <p:cNvPr id="6" name="Footer Placeholder 5">
            <a:extLst>
              <a:ext uri="{FF2B5EF4-FFF2-40B4-BE49-F238E27FC236}">
                <a16:creationId xmlns:a16="http://schemas.microsoft.com/office/drawing/2014/main" id="{0D9351C9-1F74-8783-23F0-EBC1845688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D220AE-831F-94B0-3469-E39B527F978B}"/>
              </a:ext>
            </a:extLst>
          </p:cNvPr>
          <p:cNvSpPr>
            <a:spLocks noGrp="1"/>
          </p:cNvSpPr>
          <p:nvPr>
            <p:ph type="sldNum" sz="quarter" idx="12"/>
          </p:nvPr>
        </p:nvSpPr>
        <p:spPr/>
        <p:txBody>
          <a:bodyPr/>
          <a:lstStyle/>
          <a:p>
            <a:fld id="{ACAD84AE-C5E3-47CE-B679-D11593ADBD9D}" type="slidenum">
              <a:rPr lang="en-IN" smtClean="0"/>
              <a:t>‹#›</a:t>
            </a:fld>
            <a:endParaRPr lang="en-IN"/>
          </a:p>
        </p:txBody>
      </p:sp>
    </p:spTree>
    <p:extLst>
      <p:ext uri="{BB962C8B-B14F-4D97-AF65-F5344CB8AC3E}">
        <p14:creationId xmlns:p14="http://schemas.microsoft.com/office/powerpoint/2010/main" val="1420960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488B3-7410-8CF7-DC23-EB1827F8A6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91A769C-29A6-1F33-9992-F98D8E0BAD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2626E5E-1909-D4AC-1D99-E0C62E0942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1A65E6-249E-3EB4-4367-58F76B1DF34D}"/>
              </a:ext>
            </a:extLst>
          </p:cNvPr>
          <p:cNvSpPr>
            <a:spLocks noGrp="1"/>
          </p:cNvSpPr>
          <p:nvPr>
            <p:ph type="dt" sz="half" idx="10"/>
          </p:nvPr>
        </p:nvSpPr>
        <p:spPr/>
        <p:txBody>
          <a:bodyPr/>
          <a:lstStyle/>
          <a:p>
            <a:fld id="{B716FCD9-C792-4F89-9517-B07CE0BB71D4}" type="datetimeFigureOut">
              <a:rPr lang="en-IN" smtClean="0"/>
              <a:t>20-02-2026</a:t>
            </a:fld>
            <a:endParaRPr lang="en-IN"/>
          </a:p>
        </p:txBody>
      </p:sp>
      <p:sp>
        <p:nvSpPr>
          <p:cNvPr id="6" name="Footer Placeholder 5">
            <a:extLst>
              <a:ext uri="{FF2B5EF4-FFF2-40B4-BE49-F238E27FC236}">
                <a16:creationId xmlns:a16="http://schemas.microsoft.com/office/drawing/2014/main" id="{8827C764-ACC7-7752-6FA2-118255ED30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EB8097-77BA-0C1D-A05F-D083BE2B3A33}"/>
              </a:ext>
            </a:extLst>
          </p:cNvPr>
          <p:cNvSpPr>
            <a:spLocks noGrp="1"/>
          </p:cNvSpPr>
          <p:nvPr>
            <p:ph type="sldNum" sz="quarter" idx="12"/>
          </p:nvPr>
        </p:nvSpPr>
        <p:spPr/>
        <p:txBody>
          <a:bodyPr/>
          <a:lstStyle/>
          <a:p>
            <a:fld id="{ACAD84AE-C5E3-47CE-B679-D11593ADBD9D}" type="slidenum">
              <a:rPr lang="en-IN" smtClean="0"/>
              <a:t>‹#›</a:t>
            </a:fld>
            <a:endParaRPr lang="en-IN"/>
          </a:p>
        </p:txBody>
      </p:sp>
    </p:spTree>
    <p:extLst>
      <p:ext uri="{BB962C8B-B14F-4D97-AF65-F5344CB8AC3E}">
        <p14:creationId xmlns:p14="http://schemas.microsoft.com/office/powerpoint/2010/main" val="20929968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EBD93-66F5-54E8-B080-7A86E09A650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1EDB92-04ED-33E1-0C51-02B27D0837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F86619-1E24-A84F-8372-D0200CF6F699}"/>
              </a:ext>
            </a:extLst>
          </p:cNvPr>
          <p:cNvSpPr>
            <a:spLocks noGrp="1"/>
          </p:cNvSpPr>
          <p:nvPr>
            <p:ph type="dt" sz="half" idx="10"/>
          </p:nvPr>
        </p:nvSpPr>
        <p:spPr/>
        <p:txBody>
          <a:bodyPr/>
          <a:lstStyle/>
          <a:p>
            <a:fld id="{B716FCD9-C792-4F89-9517-B07CE0BB71D4}" type="datetimeFigureOut">
              <a:rPr lang="en-IN" smtClean="0"/>
              <a:t>20-02-2026</a:t>
            </a:fld>
            <a:endParaRPr lang="en-IN"/>
          </a:p>
        </p:txBody>
      </p:sp>
      <p:sp>
        <p:nvSpPr>
          <p:cNvPr id="5" name="Footer Placeholder 4">
            <a:extLst>
              <a:ext uri="{FF2B5EF4-FFF2-40B4-BE49-F238E27FC236}">
                <a16:creationId xmlns:a16="http://schemas.microsoft.com/office/drawing/2014/main" id="{2F97DF38-1CA4-2DC5-EB52-5406C3A113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643572-EBD7-7DAB-882A-497223F1B61B}"/>
              </a:ext>
            </a:extLst>
          </p:cNvPr>
          <p:cNvSpPr>
            <a:spLocks noGrp="1"/>
          </p:cNvSpPr>
          <p:nvPr>
            <p:ph type="sldNum" sz="quarter" idx="12"/>
          </p:nvPr>
        </p:nvSpPr>
        <p:spPr/>
        <p:txBody>
          <a:bodyPr/>
          <a:lstStyle/>
          <a:p>
            <a:fld id="{ACAD84AE-C5E3-47CE-B679-D11593ADBD9D}" type="slidenum">
              <a:rPr lang="en-IN" smtClean="0"/>
              <a:t>‹#›</a:t>
            </a:fld>
            <a:endParaRPr lang="en-IN"/>
          </a:p>
        </p:txBody>
      </p:sp>
    </p:spTree>
    <p:extLst>
      <p:ext uri="{BB962C8B-B14F-4D97-AF65-F5344CB8AC3E}">
        <p14:creationId xmlns:p14="http://schemas.microsoft.com/office/powerpoint/2010/main" val="32196875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D7A6BC-EB8F-3413-F002-478816151BC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3BED7D-EBDF-B832-C039-765CFC3F64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187456-87EC-2D06-CEBF-2ACF458415E8}"/>
              </a:ext>
            </a:extLst>
          </p:cNvPr>
          <p:cNvSpPr>
            <a:spLocks noGrp="1"/>
          </p:cNvSpPr>
          <p:nvPr>
            <p:ph type="dt" sz="half" idx="10"/>
          </p:nvPr>
        </p:nvSpPr>
        <p:spPr/>
        <p:txBody>
          <a:bodyPr/>
          <a:lstStyle/>
          <a:p>
            <a:fld id="{B716FCD9-C792-4F89-9517-B07CE0BB71D4}" type="datetimeFigureOut">
              <a:rPr lang="en-IN" smtClean="0"/>
              <a:t>20-02-2026</a:t>
            </a:fld>
            <a:endParaRPr lang="en-IN"/>
          </a:p>
        </p:txBody>
      </p:sp>
      <p:sp>
        <p:nvSpPr>
          <p:cNvPr id="5" name="Footer Placeholder 4">
            <a:extLst>
              <a:ext uri="{FF2B5EF4-FFF2-40B4-BE49-F238E27FC236}">
                <a16:creationId xmlns:a16="http://schemas.microsoft.com/office/drawing/2014/main" id="{F07EDF21-4E2C-BA8B-9847-F226ADB8A9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508D6C-56BF-78A6-4968-1233CDB35D5A}"/>
              </a:ext>
            </a:extLst>
          </p:cNvPr>
          <p:cNvSpPr>
            <a:spLocks noGrp="1"/>
          </p:cNvSpPr>
          <p:nvPr>
            <p:ph type="sldNum" sz="quarter" idx="12"/>
          </p:nvPr>
        </p:nvSpPr>
        <p:spPr/>
        <p:txBody>
          <a:bodyPr/>
          <a:lstStyle/>
          <a:p>
            <a:fld id="{ACAD84AE-C5E3-47CE-B679-D11593ADBD9D}" type="slidenum">
              <a:rPr lang="en-IN" smtClean="0"/>
              <a:t>‹#›</a:t>
            </a:fld>
            <a:endParaRPr lang="en-IN"/>
          </a:p>
        </p:txBody>
      </p:sp>
    </p:spTree>
    <p:extLst>
      <p:ext uri="{BB962C8B-B14F-4D97-AF65-F5344CB8AC3E}">
        <p14:creationId xmlns:p14="http://schemas.microsoft.com/office/powerpoint/2010/main" val="31779765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C1BF0A-9DDB-8BD7-CF3F-8635DF36DD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CB4629-7951-E8FF-21CB-C87EB9F9E5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8B00A6-CEE7-2D06-925E-71DE4BAC7B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16FCD9-C792-4F89-9517-B07CE0BB71D4}" type="datetimeFigureOut">
              <a:rPr lang="en-IN" smtClean="0"/>
              <a:t>20-02-2026</a:t>
            </a:fld>
            <a:endParaRPr lang="en-IN"/>
          </a:p>
        </p:txBody>
      </p:sp>
      <p:sp>
        <p:nvSpPr>
          <p:cNvPr id="5" name="Footer Placeholder 4">
            <a:extLst>
              <a:ext uri="{FF2B5EF4-FFF2-40B4-BE49-F238E27FC236}">
                <a16:creationId xmlns:a16="http://schemas.microsoft.com/office/drawing/2014/main" id="{94B5CBCF-66F8-B705-C722-C4A23167F5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502C8C0-F863-F317-201A-C205708BA2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AD84AE-C5E3-47CE-B679-D11593ADBD9D}" type="slidenum">
              <a:rPr lang="en-IN" smtClean="0"/>
              <a:t>‹#›</a:t>
            </a:fld>
            <a:endParaRPr lang="en-IN"/>
          </a:p>
        </p:txBody>
      </p:sp>
    </p:spTree>
    <p:extLst>
      <p:ext uri="{BB962C8B-B14F-4D97-AF65-F5344CB8AC3E}">
        <p14:creationId xmlns:p14="http://schemas.microsoft.com/office/powerpoint/2010/main" val="674986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legant black background vector illustration with vintage distressed grunge  texture and dark gray charcoal color paint | Premium Vector">
            <a:extLst>
              <a:ext uri="{FF2B5EF4-FFF2-40B4-BE49-F238E27FC236}">
                <a16:creationId xmlns:a16="http://schemas.microsoft.com/office/drawing/2014/main" id="{85A998D4-73FA-2941-FF27-13D1734B8B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29" y="0"/>
            <a:ext cx="12192000"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Subtitle 2">
            <a:extLst>
              <a:ext uri="{FF2B5EF4-FFF2-40B4-BE49-F238E27FC236}">
                <a16:creationId xmlns:a16="http://schemas.microsoft.com/office/drawing/2014/main" id="{CDA29C3B-7F20-1981-39C0-9C5B640ADA8C}"/>
              </a:ext>
            </a:extLst>
          </p:cNvPr>
          <p:cNvSpPr>
            <a:spLocks noGrp="1"/>
          </p:cNvSpPr>
          <p:nvPr>
            <p:ph type="subTitle" idx="1"/>
          </p:nvPr>
        </p:nvSpPr>
        <p:spPr>
          <a:xfrm>
            <a:off x="1" y="5506065"/>
            <a:ext cx="3795252" cy="1140541"/>
          </a:xfrm>
        </p:spPr>
        <p:txBody>
          <a:bodyPr>
            <a:normAutofit/>
          </a:bodyPr>
          <a:lstStyle/>
          <a:p>
            <a:endParaRPr lang="en-US" dirty="0">
              <a:effectLst>
                <a:glow rad="101600">
                  <a:schemeClr val="bg2">
                    <a:alpha val="60000"/>
                  </a:schemeClr>
                </a:glow>
              </a:effectLst>
            </a:endParaRPr>
          </a:p>
          <a:p>
            <a:r>
              <a:rPr lang="en-US" dirty="0">
                <a:solidFill>
                  <a:schemeClr val="tx1">
                    <a:lumMod val="75000"/>
                    <a:lumOff val="25000"/>
                  </a:schemeClr>
                </a:solidFill>
                <a:effectLst>
                  <a:glow rad="101600">
                    <a:schemeClr val="bg2">
                      <a:alpha val="60000"/>
                    </a:schemeClr>
                  </a:glow>
                </a:effectLst>
              </a:rPr>
              <a:t>ABHISHEK GUPTA </a:t>
            </a:r>
            <a:endParaRPr lang="en-IN" dirty="0">
              <a:solidFill>
                <a:schemeClr val="tx1">
                  <a:lumMod val="75000"/>
                  <a:lumOff val="25000"/>
                </a:schemeClr>
              </a:solidFill>
              <a:effectLst>
                <a:glow rad="101600">
                  <a:schemeClr val="bg2">
                    <a:alpha val="60000"/>
                  </a:schemeClr>
                </a:glow>
              </a:effectLst>
            </a:endParaRPr>
          </a:p>
        </p:txBody>
      </p:sp>
      <p:sp>
        <p:nvSpPr>
          <p:cNvPr id="2" name="Title 1">
            <a:extLst>
              <a:ext uri="{FF2B5EF4-FFF2-40B4-BE49-F238E27FC236}">
                <a16:creationId xmlns:a16="http://schemas.microsoft.com/office/drawing/2014/main" id="{9121F40B-25D9-EEDA-A2AC-748D140130E6}"/>
              </a:ext>
            </a:extLst>
          </p:cNvPr>
          <p:cNvSpPr>
            <a:spLocks noGrp="1"/>
          </p:cNvSpPr>
          <p:nvPr>
            <p:ph type="ctrTitle"/>
          </p:nvPr>
        </p:nvSpPr>
        <p:spPr>
          <a:xfrm>
            <a:off x="3873910" y="299885"/>
            <a:ext cx="7885471" cy="2055690"/>
          </a:xfrm>
        </p:spPr>
        <p:txBody>
          <a:bodyPr>
            <a:normAutofit fontScale="90000"/>
          </a:bodyPr>
          <a:lstStyle/>
          <a:p>
            <a:r>
              <a:rPr lang="en-US" dirty="0"/>
              <a:t>---------------------------------</a:t>
            </a:r>
            <a:br>
              <a:rPr lang="en-US" dirty="0"/>
            </a:br>
            <a:r>
              <a:rPr lang="en-US" dirty="0">
                <a:solidFill>
                  <a:schemeClr val="tx1">
                    <a:lumMod val="75000"/>
                    <a:lumOff val="25000"/>
                  </a:schemeClr>
                </a:solidFill>
                <a:effectLst>
                  <a:glow rad="101600">
                    <a:schemeClr val="bg2">
                      <a:alpha val="60000"/>
                    </a:schemeClr>
                  </a:glow>
                </a:effectLst>
                <a:latin typeface="Algerian" panose="04020705040A02060702" pitchFamily="82" charset="0"/>
              </a:rPr>
              <a:t>SQL</a:t>
            </a:r>
            <a:r>
              <a:rPr lang="en-US" dirty="0">
                <a:solidFill>
                  <a:schemeClr val="tx1">
                    <a:lumMod val="75000"/>
                    <a:lumOff val="25000"/>
                  </a:schemeClr>
                </a:solidFill>
                <a:latin typeface="Algerian" panose="04020705040A02060702" pitchFamily="82" charset="0"/>
              </a:rPr>
              <a:t> </a:t>
            </a:r>
            <a:r>
              <a:rPr lang="en-US" dirty="0">
                <a:solidFill>
                  <a:schemeClr val="tx1">
                    <a:lumMod val="75000"/>
                    <a:lumOff val="25000"/>
                  </a:schemeClr>
                </a:solidFill>
                <a:effectLst>
                  <a:glow rad="101600">
                    <a:schemeClr val="bg2">
                      <a:alpha val="60000"/>
                    </a:schemeClr>
                  </a:glow>
                </a:effectLst>
                <a:latin typeface="Algerian" panose="04020705040A02060702" pitchFamily="82" charset="0"/>
              </a:rPr>
              <a:t>PAINTING PROJECT</a:t>
            </a:r>
            <a:br>
              <a:rPr lang="en-US" dirty="0"/>
            </a:br>
            <a:r>
              <a:rPr lang="en-US" dirty="0"/>
              <a:t>--------------------------------- </a:t>
            </a:r>
            <a:endParaRPr lang="en-IN" dirty="0"/>
          </a:p>
        </p:txBody>
      </p:sp>
      <p:pic>
        <p:nvPicPr>
          <p:cNvPr id="1030" name="Picture 6" descr="See adjacent text.">
            <a:extLst>
              <a:ext uri="{FF2B5EF4-FFF2-40B4-BE49-F238E27FC236}">
                <a16:creationId xmlns:a16="http://schemas.microsoft.com/office/drawing/2014/main" id="{5667F045-4F55-E61D-D676-A4BDE5ACAD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446" y="452284"/>
            <a:ext cx="2939845" cy="4272116"/>
          </a:xfrm>
          <a:prstGeom prst="rect">
            <a:avLst/>
          </a:prstGeom>
          <a:noFill/>
          <a:effectLst>
            <a:outerShdw blurRad="50800" dist="38100" algn="l" rotWithShape="0">
              <a:prstClr val="black">
                <a:alpha val="40000"/>
              </a:prstClr>
            </a:outerShdw>
            <a:reflection blurRad="6350" stA="50000" endA="300" endPos="38500" dist="50800" dir="5400000" sy="-100000" algn="bl" rotWithShape="0"/>
            <a:softEdge rad="127000"/>
          </a:effectLst>
          <a:extLst>
            <a:ext uri="{909E8E84-426E-40DD-AFC4-6F175D3DCCD1}">
              <a14:hiddenFill xmlns:a14="http://schemas.microsoft.com/office/drawing/2010/main">
                <a:solidFill>
                  <a:srgbClr val="FFFFFF"/>
                </a:solidFill>
              </a14:hiddenFill>
            </a:ext>
          </a:extLst>
        </p:spPr>
      </p:pic>
      <p:pic>
        <p:nvPicPr>
          <p:cNvPr id="1034" name="Picture 10" descr="'The Last Supper' by Leonardo da Vinci.">
            <a:extLst>
              <a:ext uri="{FF2B5EF4-FFF2-40B4-BE49-F238E27FC236}">
                <a16:creationId xmlns:a16="http://schemas.microsoft.com/office/drawing/2014/main" id="{84B5E345-FF4D-E9AA-DFA9-BF66E2CF84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7639" y="2166730"/>
            <a:ext cx="6931742" cy="3518453"/>
          </a:xfrm>
          <a:prstGeom prst="rect">
            <a:avLst/>
          </a:prstGeom>
          <a:noFill/>
          <a:effectLst>
            <a:outerShdw blurRad="50800" dist="38100" algn="l" rotWithShape="0">
              <a:prstClr val="black">
                <a:alpha val="40000"/>
              </a:prstClr>
            </a:outerShdw>
            <a:reflection blurRad="6350" stA="52000" endA="300" endPos="35000" dir="5400000" sy="-100000" algn="bl" rotWithShape="0"/>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1565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inVertical)">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0"/>
                                        </p:tgtEl>
                                        <p:attrNameLst>
                                          <p:attrName>style.visibility</p:attrName>
                                        </p:attrNameLst>
                                      </p:cBhvr>
                                      <p:to>
                                        <p:strVal val="visible"/>
                                      </p:to>
                                    </p:set>
                                    <p:animEffect transition="in" filter="fade">
                                      <p:cBhvr>
                                        <p:cTn id="12" dur="500"/>
                                        <p:tgtEl>
                                          <p:spTgt spid="10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34"/>
                                        </p:tgtEl>
                                        <p:attrNameLst>
                                          <p:attrName>style.visibility</p:attrName>
                                        </p:attrNameLst>
                                      </p:cBhvr>
                                      <p:to>
                                        <p:strVal val="visible"/>
                                      </p:to>
                                    </p:set>
                                    <p:animEffect transition="in" filter="fade">
                                      <p:cBhvr>
                                        <p:cTn id="17" dur="500"/>
                                        <p:tgtEl>
                                          <p:spTgt spid="10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3E6D6183-88EC-AFAD-E93D-2496C6FF27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C7A8743-1805-5CE5-1F61-EF6BB9E8FA38}"/>
              </a:ext>
            </a:extLst>
          </p:cNvPr>
          <p:cNvSpPr>
            <a:spLocks noGrp="1"/>
          </p:cNvSpPr>
          <p:nvPr>
            <p:ph type="title"/>
          </p:nvPr>
        </p:nvSpPr>
        <p:spPr>
          <a:xfrm>
            <a:off x="4237703" y="-34411"/>
            <a:ext cx="7600335" cy="1017638"/>
          </a:xfrm>
        </p:spPr>
        <p:txBody>
          <a:bodyPr/>
          <a:lstStyle/>
          <a:p>
            <a:r>
              <a:rPr lang="en-US" dirty="0">
                <a:effectLst>
                  <a:glow rad="101600">
                    <a:schemeClr val="bg2">
                      <a:alpha val="60000"/>
                    </a:schemeClr>
                  </a:glow>
                </a:effectLst>
                <a:latin typeface="Algerian" panose="04020705040A02060702" pitchFamily="82" charset="0"/>
              </a:rPr>
              <a:t>INDEX</a:t>
            </a:r>
            <a:r>
              <a:rPr lang="en-US" dirty="0">
                <a:latin typeface="Algerian" panose="04020705040A02060702" pitchFamily="82" charset="0"/>
              </a:rPr>
              <a:t> </a:t>
            </a:r>
            <a:r>
              <a:rPr lang="en-US" dirty="0"/>
              <a:t> </a:t>
            </a:r>
            <a:endParaRPr lang="en-IN" dirty="0"/>
          </a:p>
        </p:txBody>
      </p:sp>
      <p:pic>
        <p:nvPicPr>
          <p:cNvPr id="1032" name="Picture 8" descr="Dark Color Paintings">
            <a:extLst>
              <a:ext uri="{FF2B5EF4-FFF2-40B4-BE49-F238E27FC236}">
                <a16:creationId xmlns:a16="http://schemas.microsoft.com/office/drawing/2014/main" id="{A956D0A9-4AF7-6340-2950-4E1886ECFD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0"/>
            <a:ext cx="4217859" cy="6858000"/>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graphicFrame>
        <p:nvGraphicFramePr>
          <p:cNvPr id="8" name="Content Placeholder 7">
            <a:extLst>
              <a:ext uri="{FF2B5EF4-FFF2-40B4-BE49-F238E27FC236}">
                <a16:creationId xmlns:a16="http://schemas.microsoft.com/office/drawing/2014/main" id="{00D1F42F-5568-7D16-B4AA-49CDF7A65729}"/>
              </a:ext>
            </a:extLst>
          </p:cNvPr>
          <p:cNvGraphicFramePr>
            <a:graphicFrameLocks noGrp="1"/>
          </p:cNvGraphicFramePr>
          <p:nvPr>
            <p:ph idx="1"/>
            <p:extLst>
              <p:ext uri="{D42A27DB-BD31-4B8C-83A1-F6EECF244321}">
                <p14:modId xmlns:p14="http://schemas.microsoft.com/office/powerpoint/2010/main" val="2606854606"/>
              </p:ext>
            </p:extLst>
          </p:nvPr>
        </p:nvGraphicFramePr>
        <p:xfrm>
          <a:off x="4144618" y="725557"/>
          <a:ext cx="7911546" cy="6013176"/>
        </p:xfrm>
        <a:graphic>
          <a:graphicData uri="http://schemas.openxmlformats.org/drawingml/2006/table">
            <a:tbl>
              <a:tblPr/>
              <a:tblGrid>
                <a:gridCol w="1182756">
                  <a:extLst>
                    <a:ext uri="{9D8B030D-6E8A-4147-A177-3AD203B41FA5}">
                      <a16:colId xmlns:a16="http://schemas.microsoft.com/office/drawing/2014/main" val="573101848"/>
                    </a:ext>
                  </a:extLst>
                </a:gridCol>
                <a:gridCol w="2246243">
                  <a:extLst>
                    <a:ext uri="{9D8B030D-6E8A-4147-A177-3AD203B41FA5}">
                      <a16:colId xmlns:a16="http://schemas.microsoft.com/office/drawing/2014/main" val="1077759739"/>
                    </a:ext>
                  </a:extLst>
                </a:gridCol>
                <a:gridCol w="4482547">
                  <a:extLst>
                    <a:ext uri="{9D8B030D-6E8A-4147-A177-3AD203B41FA5}">
                      <a16:colId xmlns:a16="http://schemas.microsoft.com/office/drawing/2014/main" val="2321333707"/>
                    </a:ext>
                  </a:extLst>
                </a:gridCol>
              </a:tblGrid>
              <a:tr h="414908">
                <a:tc>
                  <a:txBody>
                    <a:bodyPr/>
                    <a:lstStyle/>
                    <a:p>
                      <a:pPr>
                        <a:buNone/>
                      </a:pPr>
                      <a:r>
                        <a:rPr lang="en-IN" sz="1400" dirty="0">
                          <a:solidFill>
                            <a:schemeClr val="bg1"/>
                          </a:solidFill>
                        </a:rPr>
                        <a:t>Section No.</a:t>
                      </a:r>
                    </a:p>
                  </a:txBody>
                  <a:tcPr marL="69132" marR="69132" marT="34566" marB="34566" anchor="ctr">
                    <a:lnL>
                      <a:noFill/>
                    </a:lnL>
                    <a:lnR>
                      <a:noFill/>
                    </a:lnR>
                    <a:lnT>
                      <a:noFill/>
                    </a:lnT>
                    <a:lnB>
                      <a:noFill/>
                    </a:lnB>
                    <a:noFill/>
                  </a:tcPr>
                </a:tc>
                <a:tc>
                  <a:txBody>
                    <a:bodyPr/>
                    <a:lstStyle/>
                    <a:p>
                      <a:pPr>
                        <a:buNone/>
                      </a:pPr>
                      <a:r>
                        <a:rPr lang="en-IN" sz="1400">
                          <a:solidFill>
                            <a:schemeClr val="bg1"/>
                          </a:solidFill>
                        </a:rPr>
                        <a:t>Topic</a:t>
                      </a:r>
                    </a:p>
                  </a:txBody>
                  <a:tcPr marL="69132" marR="69132" marT="34566" marB="34566" anchor="ctr">
                    <a:lnL>
                      <a:noFill/>
                    </a:lnL>
                    <a:lnR>
                      <a:noFill/>
                    </a:lnR>
                    <a:lnT>
                      <a:noFill/>
                    </a:lnT>
                    <a:lnB>
                      <a:noFill/>
                    </a:lnB>
                    <a:noFill/>
                  </a:tcPr>
                </a:tc>
                <a:tc>
                  <a:txBody>
                    <a:bodyPr/>
                    <a:lstStyle/>
                    <a:p>
                      <a:pPr>
                        <a:buNone/>
                      </a:pPr>
                      <a:r>
                        <a:rPr lang="en-IN" sz="1400">
                          <a:solidFill>
                            <a:schemeClr val="bg1"/>
                          </a:solidFill>
                        </a:rPr>
                        <a:t>Description</a:t>
                      </a:r>
                    </a:p>
                  </a:txBody>
                  <a:tcPr marL="69132" marR="69132" marT="34566" marB="34566" anchor="ctr">
                    <a:lnL>
                      <a:noFill/>
                    </a:lnL>
                    <a:lnR>
                      <a:noFill/>
                    </a:lnR>
                    <a:lnT>
                      <a:noFill/>
                    </a:lnT>
                    <a:lnB>
                      <a:noFill/>
                    </a:lnB>
                    <a:noFill/>
                  </a:tcPr>
                </a:tc>
                <a:extLst>
                  <a:ext uri="{0D108BD9-81ED-4DB2-BD59-A6C34878D82A}">
                    <a16:rowId xmlns:a16="http://schemas.microsoft.com/office/drawing/2014/main" val="3617065311"/>
                  </a:ext>
                </a:extLst>
              </a:tr>
              <a:tr h="728280">
                <a:tc>
                  <a:txBody>
                    <a:bodyPr/>
                    <a:lstStyle/>
                    <a:p>
                      <a:pPr>
                        <a:buNone/>
                      </a:pPr>
                      <a:r>
                        <a:rPr lang="en-IN" sz="1400">
                          <a:solidFill>
                            <a:schemeClr val="bg1"/>
                          </a:solidFill>
                        </a:rPr>
                        <a:t>1</a:t>
                      </a:r>
                    </a:p>
                  </a:txBody>
                  <a:tcPr marL="69132" marR="69132" marT="34566" marB="34566" anchor="ctr">
                    <a:lnL>
                      <a:noFill/>
                    </a:lnL>
                    <a:lnR>
                      <a:noFill/>
                    </a:lnR>
                    <a:lnT>
                      <a:noFill/>
                    </a:lnT>
                    <a:lnB>
                      <a:noFill/>
                    </a:lnB>
                    <a:noFill/>
                  </a:tcPr>
                </a:tc>
                <a:tc>
                  <a:txBody>
                    <a:bodyPr/>
                    <a:lstStyle/>
                    <a:p>
                      <a:pPr>
                        <a:buNone/>
                      </a:pPr>
                      <a:r>
                        <a:rPr lang="en-IN" sz="1400" b="1">
                          <a:solidFill>
                            <a:schemeClr val="bg1"/>
                          </a:solidFill>
                        </a:rPr>
                        <a:t>Introduction</a:t>
                      </a:r>
                      <a:endParaRPr lang="en-IN" sz="1400">
                        <a:solidFill>
                          <a:schemeClr val="bg1"/>
                        </a:solidFill>
                      </a:endParaRPr>
                    </a:p>
                  </a:txBody>
                  <a:tcPr marL="69132" marR="69132" marT="34566" marB="34566" anchor="ctr">
                    <a:lnL>
                      <a:noFill/>
                    </a:lnL>
                    <a:lnR>
                      <a:noFill/>
                    </a:lnR>
                    <a:lnT>
                      <a:noFill/>
                    </a:lnT>
                    <a:lnB>
                      <a:noFill/>
                    </a:lnB>
                    <a:noFill/>
                  </a:tcPr>
                </a:tc>
                <a:tc>
                  <a:txBody>
                    <a:bodyPr/>
                    <a:lstStyle/>
                    <a:p>
                      <a:pPr>
                        <a:buNone/>
                      </a:pPr>
                      <a:r>
                        <a:rPr lang="en-US" sz="1400">
                          <a:solidFill>
                            <a:schemeClr val="bg1"/>
                          </a:solidFill>
                        </a:rPr>
                        <a:t>Overview of the Painting Database and its purpose</a:t>
                      </a:r>
                    </a:p>
                  </a:txBody>
                  <a:tcPr marL="69132" marR="69132" marT="34566" marB="34566" anchor="ctr">
                    <a:lnL>
                      <a:noFill/>
                    </a:lnL>
                    <a:lnR>
                      <a:noFill/>
                    </a:lnR>
                    <a:lnT>
                      <a:noFill/>
                    </a:lnT>
                    <a:lnB>
                      <a:noFill/>
                    </a:lnB>
                    <a:noFill/>
                  </a:tcPr>
                </a:tc>
                <a:extLst>
                  <a:ext uri="{0D108BD9-81ED-4DB2-BD59-A6C34878D82A}">
                    <a16:rowId xmlns:a16="http://schemas.microsoft.com/office/drawing/2014/main" val="1992586940"/>
                  </a:ext>
                </a:extLst>
              </a:tr>
              <a:tr h="728280">
                <a:tc>
                  <a:txBody>
                    <a:bodyPr/>
                    <a:lstStyle/>
                    <a:p>
                      <a:pPr>
                        <a:buNone/>
                      </a:pPr>
                      <a:r>
                        <a:rPr lang="en-IN" sz="1400">
                          <a:solidFill>
                            <a:schemeClr val="bg1"/>
                          </a:solidFill>
                        </a:rPr>
                        <a:t>2</a:t>
                      </a:r>
                    </a:p>
                  </a:txBody>
                  <a:tcPr marL="69132" marR="69132" marT="34566" marB="34566" anchor="ctr">
                    <a:lnL>
                      <a:noFill/>
                    </a:lnL>
                    <a:lnR>
                      <a:noFill/>
                    </a:lnR>
                    <a:lnT>
                      <a:noFill/>
                    </a:lnT>
                    <a:lnB>
                      <a:noFill/>
                    </a:lnB>
                    <a:noFill/>
                  </a:tcPr>
                </a:tc>
                <a:tc>
                  <a:txBody>
                    <a:bodyPr/>
                    <a:lstStyle/>
                    <a:p>
                      <a:pPr>
                        <a:buNone/>
                      </a:pPr>
                      <a:r>
                        <a:rPr lang="en-IN" sz="1400" b="1" dirty="0">
                          <a:solidFill>
                            <a:schemeClr val="bg1"/>
                          </a:solidFill>
                        </a:rPr>
                        <a:t>Summary</a:t>
                      </a:r>
                      <a:endParaRPr lang="en-IN" sz="1400" dirty="0">
                        <a:solidFill>
                          <a:schemeClr val="bg1"/>
                        </a:solidFill>
                      </a:endParaRPr>
                    </a:p>
                  </a:txBody>
                  <a:tcPr marL="69132" marR="69132" marT="34566" marB="34566" anchor="ctr">
                    <a:lnL>
                      <a:noFill/>
                    </a:lnL>
                    <a:lnR>
                      <a:noFill/>
                    </a:lnR>
                    <a:lnT>
                      <a:noFill/>
                    </a:lnT>
                    <a:lnB>
                      <a:noFill/>
                    </a:lnB>
                    <a:noFill/>
                  </a:tcPr>
                </a:tc>
                <a:tc>
                  <a:txBody>
                    <a:bodyPr/>
                    <a:lstStyle/>
                    <a:p>
                      <a:pPr>
                        <a:buNone/>
                      </a:pPr>
                      <a:r>
                        <a:rPr lang="en-US" sz="1400">
                          <a:solidFill>
                            <a:schemeClr val="bg1"/>
                          </a:solidFill>
                        </a:rPr>
                        <a:t>Brief explanation of what the project covers and achieves</a:t>
                      </a:r>
                    </a:p>
                  </a:txBody>
                  <a:tcPr marL="69132" marR="69132" marT="34566" marB="34566" anchor="ctr">
                    <a:lnL>
                      <a:noFill/>
                    </a:lnL>
                    <a:lnR>
                      <a:noFill/>
                    </a:lnR>
                    <a:lnT>
                      <a:noFill/>
                    </a:lnT>
                    <a:lnB>
                      <a:noFill/>
                    </a:lnB>
                    <a:noFill/>
                  </a:tcPr>
                </a:tc>
                <a:extLst>
                  <a:ext uri="{0D108BD9-81ED-4DB2-BD59-A6C34878D82A}">
                    <a16:rowId xmlns:a16="http://schemas.microsoft.com/office/drawing/2014/main" val="1588529663"/>
                  </a:ext>
                </a:extLst>
              </a:tr>
              <a:tr h="728280">
                <a:tc>
                  <a:txBody>
                    <a:bodyPr/>
                    <a:lstStyle/>
                    <a:p>
                      <a:pPr>
                        <a:buNone/>
                      </a:pPr>
                      <a:r>
                        <a:rPr lang="en-IN" sz="1400">
                          <a:solidFill>
                            <a:schemeClr val="bg1"/>
                          </a:solidFill>
                        </a:rPr>
                        <a:t>3</a:t>
                      </a:r>
                    </a:p>
                  </a:txBody>
                  <a:tcPr marL="69132" marR="69132" marT="34566" marB="34566" anchor="ctr">
                    <a:lnL>
                      <a:noFill/>
                    </a:lnL>
                    <a:lnR>
                      <a:noFill/>
                    </a:lnR>
                    <a:lnT>
                      <a:noFill/>
                    </a:lnT>
                    <a:lnB>
                      <a:noFill/>
                    </a:lnB>
                    <a:noFill/>
                  </a:tcPr>
                </a:tc>
                <a:tc>
                  <a:txBody>
                    <a:bodyPr/>
                    <a:lstStyle/>
                    <a:p>
                      <a:pPr>
                        <a:buNone/>
                      </a:pPr>
                      <a:r>
                        <a:rPr lang="en-IN" sz="1400" b="1">
                          <a:solidFill>
                            <a:schemeClr val="bg1"/>
                          </a:solidFill>
                        </a:rPr>
                        <a:t>Database Structure</a:t>
                      </a:r>
                      <a:endParaRPr lang="en-IN" sz="1400">
                        <a:solidFill>
                          <a:schemeClr val="bg1"/>
                        </a:solidFill>
                      </a:endParaRPr>
                    </a:p>
                  </a:txBody>
                  <a:tcPr marL="69132" marR="69132" marT="34566" marB="34566" anchor="ctr">
                    <a:lnL>
                      <a:noFill/>
                    </a:lnL>
                    <a:lnR>
                      <a:noFill/>
                    </a:lnR>
                    <a:lnT>
                      <a:noFill/>
                    </a:lnT>
                    <a:lnB>
                      <a:noFill/>
                    </a:lnB>
                    <a:noFill/>
                  </a:tcPr>
                </a:tc>
                <a:tc>
                  <a:txBody>
                    <a:bodyPr/>
                    <a:lstStyle/>
                    <a:p>
                      <a:pPr>
                        <a:buNone/>
                      </a:pPr>
                      <a:r>
                        <a:rPr lang="en-US" sz="1400">
                          <a:solidFill>
                            <a:schemeClr val="bg1"/>
                          </a:solidFill>
                        </a:rPr>
                        <a:t>Tables and relationships used (artist, work, museum, etc.)</a:t>
                      </a:r>
                    </a:p>
                  </a:txBody>
                  <a:tcPr marL="69132" marR="69132" marT="34566" marB="34566" anchor="ctr">
                    <a:lnL>
                      <a:noFill/>
                    </a:lnL>
                    <a:lnR>
                      <a:noFill/>
                    </a:lnR>
                    <a:lnT>
                      <a:noFill/>
                    </a:lnT>
                    <a:lnB>
                      <a:noFill/>
                    </a:lnB>
                    <a:noFill/>
                  </a:tcPr>
                </a:tc>
                <a:extLst>
                  <a:ext uri="{0D108BD9-81ED-4DB2-BD59-A6C34878D82A}">
                    <a16:rowId xmlns:a16="http://schemas.microsoft.com/office/drawing/2014/main" val="2874358367"/>
                  </a:ext>
                </a:extLst>
              </a:tr>
              <a:tr h="728280">
                <a:tc>
                  <a:txBody>
                    <a:bodyPr/>
                    <a:lstStyle/>
                    <a:p>
                      <a:pPr>
                        <a:buNone/>
                      </a:pPr>
                      <a:r>
                        <a:rPr lang="en-IN" sz="1400">
                          <a:solidFill>
                            <a:schemeClr val="bg1"/>
                          </a:solidFill>
                        </a:rPr>
                        <a:t>4</a:t>
                      </a:r>
                    </a:p>
                  </a:txBody>
                  <a:tcPr marL="69132" marR="69132" marT="34566" marB="34566" anchor="ctr">
                    <a:lnL>
                      <a:noFill/>
                    </a:lnL>
                    <a:lnR>
                      <a:noFill/>
                    </a:lnR>
                    <a:lnT>
                      <a:noFill/>
                    </a:lnT>
                    <a:lnB>
                      <a:noFill/>
                    </a:lnB>
                    <a:noFill/>
                  </a:tcPr>
                </a:tc>
                <a:tc>
                  <a:txBody>
                    <a:bodyPr/>
                    <a:lstStyle/>
                    <a:p>
                      <a:pPr>
                        <a:buNone/>
                      </a:pPr>
                      <a:r>
                        <a:rPr lang="en-IN" sz="1400" b="1" dirty="0">
                          <a:solidFill>
                            <a:schemeClr val="bg1"/>
                          </a:solidFill>
                        </a:rPr>
                        <a:t>Basic SQL Queries</a:t>
                      </a:r>
                      <a:endParaRPr lang="en-IN" sz="1400" dirty="0">
                        <a:solidFill>
                          <a:schemeClr val="bg1"/>
                        </a:solidFill>
                      </a:endParaRPr>
                    </a:p>
                  </a:txBody>
                  <a:tcPr marL="69132" marR="69132" marT="34566" marB="34566" anchor="ctr">
                    <a:lnL>
                      <a:noFill/>
                    </a:lnL>
                    <a:lnR>
                      <a:noFill/>
                    </a:lnR>
                    <a:lnT>
                      <a:noFill/>
                    </a:lnT>
                    <a:lnB>
                      <a:noFill/>
                    </a:lnB>
                    <a:noFill/>
                  </a:tcPr>
                </a:tc>
                <a:tc>
                  <a:txBody>
                    <a:bodyPr/>
                    <a:lstStyle/>
                    <a:p>
                      <a:pPr>
                        <a:buNone/>
                      </a:pPr>
                      <a:r>
                        <a:rPr lang="en-IN" sz="1400">
                          <a:solidFill>
                            <a:schemeClr val="bg1"/>
                          </a:solidFill>
                        </a:rPr>
                        <a:t>Foundational data exploration commands</a:t>
                      </a:r>
                    </a:p>
                  </a:txBody>
                  <a:tcPr marL="69132" marR="69132" marT="34566" marB="34566" anchor="ctr">
                    <a:lnL>
                      <a:noFill/>
                    </a:lnL>
                    <a:lnR>
                      <a:noFill/>
                    </a:lnR>
                    <a:lnT>
                      <a:noFill/>
                    </a:lnT>
                    <a:lnB>
                      <a:noFill/>
                    </a:lnB>
                    <a:noFill/>
                  </a:tcPr>
                </a:tc>
                <a:extLst>
                  <a:ext uri="{0D108BD9-81ED-4DB2-BD59-A6C34878D82A}">
                    <a16:rowId xmlns:a16="http://schemas.microsoft.com/office/drawing/2014/main" val="4185446964"/>
                  </a:ext>
                </a:extLst>
              </a:tr>
              <a:tr h="728280">
                <a:tc>
                  <a:txBody>
                    <a:bodyPr/>
                    <a:lstStyle/>
                    <a:p>
                      <a:pPr>
                        <a:buNone/>
                      </a:pPr>
                      <a:r>
                        <a:rPr lang="en-IN" sz="1400">
                          <a:solidFill>
                            <a:schemeClr val="bg1"/>
                          </a:solidFill>
                        </a:rPr>
                        <a:t>5</a:t>
                      </a:r>
                    </a:p>
                  </a:txBody>
                  <a:tcPr marL="69132" marR="69132" marT="34566" marB="34566" anchor="ctr">
                    <a:lnL>
                      <a:noFill/>
                    </a:lnL>
                    <a:lnR>
                      <a:noFill/>
                    </a:lnR>
                    <a:lnT>
                      <a:noFill/>
                    </a:lnT>
                    <a:lnB>
                      <a:noFill/>
                    </a:lnB>
                    <a:noFill/>
                  </a:tcPr>
                </a:tc>
                <a:tc>
                  <a:txBody>
                    <a:bodyPr/>
                    <a:lstStyle/>
                    <a:p>
                      <a:pPr>
                        <a:buNone/>
                      </a:pPr>
                      <a:r>
                        <a:rPr lang="en-IN" sz="1400" b="1">
                          <a:solidFill>
                            <a:schemeClr val="bg1"/>
                          </a:solidFill>
                        </a:rPr>
                        <a:t>Intermediate SQL Queries</a:t>
                      </a:r>
                      <a:endParaRPr lang="en-IN" sz="1400">
                        <a:solidFill>
                          <a:schemeClr val="bg1"/>
                        </a:solidFill>
                      </a:endParaRPr>
                    </a:p>
                  </a:txBody>
                  <a:tcPr marL="69132" marR="69132" marT="34566" marB="34566" anchor="ctr">
                    <a:lnL>
                      <a:noFill/>
                    </a:lnL>
                    <a:lnR>
                      <a:noFill/>
                    </a:lnR>
                    <a:lnT>
                      <a:noFill/>
                    </a:lnT>
                    <a:lnB>
                      <a:noFill/>
                    </a:lnB>
                    <a:noFill/>
                  </a:tcPr>
                </a:tc>
                <a:tc>
                  <a:txBody>
                    <a:bodyPr/>
                    <a:lstStyle/>
                    <a:p>
                      <a:pPr>
                        <a:buNone/>
                      </a:pPr>
                      <a:r>
                        <a:rPr lang="en-US" sz="1400">
                          <a:solidFill>
                            <a:schemeClr val="bg1"/>
                          </a:solidFill>
                        </a:rPr>
                        <a:t>Analytical queries using grouping, joins, and filters</a:t>
                      </a:r>
                    </a:p>
                  </a:txBody>
                  <a:tcPr marL="69132" marR="69132" marT="34566" marB="34566" anchor="ctr">
                    <a:lnL>
                      <a:noFill/>
                    </a:lnL>
                    <a:lnR>
                      <a:noFill/>
                    </a:lnR>
                    <a:lnT>
                      <a:noFill/>
                    </a:lnT>
                    <a:lnB>
                      <a:noFill/>
                    </a:lnB>
                    <a:noFill/>
                  </a:tcPr>
                </a:tc>
                <a:extLst>
                  <a:ext uri="{0D108BD9-81ED-4DB2-BD59-A6C34878D82A}">
                    <a16:rowId xmlns:a16="http://schemas.microsoft.com/office/drawing/2014/main" val="1237047771"/>
                  </a:ext>
                </a:extLst>
              </a:tr>
              <a:tr h="813680">
                <a:tc>
                  <a:txBody>
                    <a:bodyPr/>
                    <a:lstStyle/>
                    <a:p>
                      <a:pPr>
                        <a:buNone/>
                      </a:pPr>
                      <a:r>
                        <a:rPr lang="en-IN" sz="1400">
                          <a:solidFill>
                            <a:schemeClr val="bg1"/>
                          </a:solidFill>
                        </a:rPr>
                        <a:t>6</a:t>
                      </a:r>
                    </a:p>
                  </a:txBody>
                  <a:tcPr marL="69132" marR="69132" marT="34566" marB="34566" anchor="ctr">
                    <a:lnL>
                      <a:noFill/>
                    </a:lnL>
                    <a:lnR>
                      <a:noFill/>
                    </a:lnR>
                    <a:lnT>
                      <a:noFill/>
                    </a:lnT>
                    <a:lnB>
                      <a:noFill/>
                    </a:lnB>
                    <a:noFill/>
                  </a:tcPr>
                </a:tc>
                <a:tc>
                  <a:txBody>
                    <a:bodyPr/>
                    <a:lstStyle/>
                    <a:p>
                      <a:pPr>
                        <a:buNone/>
                      </a:pPr>
                      <a:r>
                        <a:rPr lang="en-IN" sz="1400" b="1">
                          <a:solidFill>
                            <a:schemeClr val="bg1"/>
                          </a:solidFill>
                        </a:rPr>
                        <a:t>Advanced SQL Queries</a:t>
                      </a:r>
                      <a:endParaRPr lang="en-IN" sz="1400">
                        <a:solidFill>
                          <a:schemeClr val="bg1"/>
                        </a:solidFill>
                      </a:endParaRPr>
                    </a:p>
                  </a:txBody>
                  <a:tcPr marL="69132" marR="69132" marT="34566" marB="34566" anchor="ctr">
                    <a:lnL>
                      <a:noFill/>
                    </a:lnL>
                    <a:lnR>
                      <a:noFill/>
                    </a:lnR>
                    <a:lnT>
                      <a:noFill/>
                    </a:lnT>
                    <a:lnB>
                      <a:noFill/>
                    </a:lnB>
                    <a:noFill/>
                  </a:tcPr>
                </a:tc>
                <a:tc>
                  <a:txBody>
                    <a:bodyPr/>
                    <a:lstStyle/>
                    <a:p>
                      <a:pPr>
                        <a:buNone/>
                      </a:pPr>
                      <a:r>
                        <a:rPr lang="en-US" sz="1400">
                          <a:solidFill>
                            <a:schemeClr val="bg1"/>
                          </a:solidFill>
                        </a:rPr>
                        <a:t>Complex queries using subqueries, window functions, and ranking</a:t>
                      </a:r>
                    </a:p>
                  </a:txBody>
                  <a:tcPr marL="69132" marR="69132" marT="34566" marB="34566" anchor="ctr">
                    <a:lnL>
                      <a:noFill/>
                    </a:lnL>
                    <a:lnR>
                      <a:noFill/>
                    </a:lnR>
                    <a:lnT>
                      <a:noFill/>
                    </a:lnT>
                    <a:lnB>
                      <a:noFill/>
                    </a:lnB>
                    <a:noFill/>
                  </a:tcPr>
                </a:tc>
                <a:extLst>
                  <a:ext uri="{0D108BD9-81ED-4DB2-BD59-A6C34878D82A}">
                    <a16:rowId xmlns:a16="http://schemas.microsoft.com/office/drawing/2014/main" val="3313861338"/>
                  </a:ext>
                </a:extLst>
              </a:tr>
              <a:tr h="728280">
                <a:tc>
                  <a:txBody>
                    <a:bodyPr/>
                    <a:lstStyle/>
                    <a:p>
                      <a:pPr>
                        <a:buNone/>
                      </a:pPr>
                      <a:r>
                        <a:rPr lang="en-IN" sz="1400">
                          <a:solidFill>
                            <a:schemeClr val="bg1"/>
                          </a:solidFill>
                        </a:rPr>
                        <a:t>7</a:t>
                      </a:r>
                    </a:p>
                  </a:txBody>
                  <a:tcPr marL="69132" marR="69132" marT="34566" marB="34566" anchor="ctr">
                    <a:lnL>
                      <a:noFill/>
                    </a:lnL>
                    <a:lnR>
                      <a:noFill/>
                    </a:lnR>
                    <a:lnT>
                      <a:noFill/>
                    </a:lnT>
                    <a:lnB>
                      <a:noFill/>
                    </a:lnB>
                    <a:noFill/>
                  </a:tcPr>
                </a:tc>
                <a:tc>
                  <a:txBody>
                    <a:bodyPr/>
                    <a:lstStyle/>
                    <a:p>
                      <a:pPr>
                        <a:buNone/>
                      </a:pPr>
                      <a:r>
                        <a:rPr lang="en-IN" sz="1400" b="1" dirty="0">
                          <a:solidFill>
                            <a:schemeClr val="bg1"/>
                          </a:solidFill>
                        </a:rPr>
                        <a:t>Results and Insights</a:t>
                      </a:r>
                      <a:endParaRPr lang="en-IN" sz="1400" dirty="0">
                        <a:solidFill>
                          <a:schemeClr val="bg1"/>
                        </a:solidFill>
                      </a:endParaRPr>
                    </a:p>
                  </a:txBody>
                  <a:tcPr marL="69132" marR="69132" marT="34566" marB="34566" anchor="ctr">
                    <a:lnL>
                      <a:noFill/>
                    </a:lnL>
                    <a:lnR>
                      <a:noFill/>
                    </a:lnR>
                    <a:lnT>
                      <a:noFill/>
                    </a:lnT>
                    <a:lnB>
                      <a:noFill/>
                    </a:lnB>
                    <a:noFill/>
                  </a:tcPr>
                </a:tc>
                <a:tc>
                  <a:txBody>
                    <a:bodyPr/>
                    <a:lstStyle/>
                    <a:p>
                      <a:pPr>
                        <a:buNone/>
                      </a:pPr>
                      <a:r>
                        <a:rPr lang="en-US" sz="1400">
                          <a:solidFill>
                            <a:schemeClr val="bg1"/>
                          </a:solidFill>
                        </a:rPr>
                        <a:t>Summary of findings and patterns discovered</a:t>
                      </a:r>
                    </a:p>
                  </a:txBody>
                  <a:tcPr marL="69132" marR="69132" marT="34566" marB="34566" anchor="ctr">
                    <a:lnL>
                      <a:noFill/>
                    </a:lnL>
                    <a:lnR>
                      <a:noFill/>
                    </a:lnR>
                    <a:lnT>
                      <a:noFill/>
                    </a:lnT>
                    <a:lnB>
                      <a:noFill/>
                    </a:lnB>
                    <a:noFill/>
                  </a:tcPr>
                </a:tc>
                <a:extLst>
                  <a:ext uri="{0D108BD9-81ED-4DB2-BD59-A6C34878D82A}">
                    <a16:rowId xmlns:a16="http://schemas.microsoft.com/office/drawing/2014/main" val="4196777566"/>
                  </a:ext>
                </a:extLst>
              </a:tr>
              <a:tr h="414908">
                <a:tc>
                  <a:txBody>
                    <a:bodyPr/>
                    <a:lstStyle/>
                    <a:p>
                      <a:pPr>
                        <a:buNone/>
                      </a:pPr>
                      <a:r>
                        <a:rPr lang="en-IN" sz="1400">
                          <a:solidFill>
                            <a:schemeClr val="bg1"/>
                          </a:solidFill>
                        </a:rPr>
                        <a:t>8</a:t>
                      </a:r>
                    </a:p>
                  </a:txBody>
                  <a:tcPr marL="69132" marR="69132" marT="34566" marB="34566" anchor="ctr">
                    <a:lnL>
                      <a:noFill/>
                    </a:lnL>
                    <a:lnR>
                      <a:noFill/>
                    </a:lnR>
                    <a:lnT>
                      <a:noFill/>
                    </a:lnT>
                    <a:lnB>
                      <a:noFill/>
                    </a:lnB>
                    <a:noFill/>
                  </a:tcPr>
                </a:tc>
                <a:tc>
                  <a:txBody>
                    <a:bodyPr/>
                    <a:lstStyle/>
                    <a:p>
                      <a:pPr>
                        <a:buNone/>
                      </a:pPr>
                      <a:r>
                        <a:rPr lang="en-IN" sz="1400" b="1">
                          <a:solidFill>
                            <a:schemeClr val="bg1"/>
                          </a:solidFill>
                        </a:rPr>
                        <a:t>Conclusion</a:t>
                      </a:r>
                      <a:endParaRPr lang="en-IN" sz="1400">
                        <a:solidFill>
                          <a:schemeClr val="bg1"/>
                        </a:solidFill>
                      </a:endParaRPr>
                    </a:p>
                  </a:txBody>
                  <a:tcPr marL="69132" marR="69132" marT="34566" marB="34566" anchor="ctr">
                    <a:lnL>
                      <a:noFill/>
                    </a:lnL>
                    <a:lnR>
                      <a:noFill/>
                    </a:lnR>
                    <a:lnT>
                      <a:noFill/>
                    </a:lnT>
                    <a:lnB>
                      <a:noFill/>
                    </a:lnB>
                    <a:noFill/>
                  </a:tcPr>
                </a:tc>
                <a:tc>
                  <a:txBody>
                    <a:bodyPr/>
                    <a:lstStyle/>
                    <a:p>
                      <a:pPr>
                        <a:buNone/>
                      </a:pPr>
                      <a:r>
                        <a:rPr lang="en-US" sz="1400" dirty="0">
                          <a:solidFill>
                            <a:schemeClr val="bg1"/>
                          </a:solidFill>
                        </a:rPr>
                        <a:t>Final thoughts and project impact</a:t>
                      </a:r>
                    </a:p>
                  </a:txBody>
                  <a:tcPr marL="69132" marR="69132" marT="34566" marB="34566" anchor="ctr">
                    <a:lnL>
                      <a:noFill/>
                    </a:lnL>
                    <a:lnR>
                      <a:noFill/>
                    </a:lnR>
                    <a:lnT>
                      <a:noFill/>
                    </a:lnT>
                    <a:lnB>
                      <a:noFill/>
                    </a:lnB>
                    <a:noFill/>
                  </a:tcPr>
                </a:tc>
                <a:extLst>
                  <a:ext uri="{0D108BD9-81ED-4DB2-BD59-A6C34878D82A}">
                    <a16:rowId xmlns:a16="http://schemas.microsoft.com/office/drawing/2014/main" val="2070106903"/>
                  </a:ext>
                </a:extLst>
              </a:tr>
            </a:tbl>
          </a:graphicData>
        </a:graphic>
      </p:graphicFrame>
    </p:spTree>
    <p:extLst>
      <p:ext uri="{BB962C8B-B14F-4D97-AF65-F5344CB8AC3E}">
        <p14:creationId xmlns:p14="http://schemas.microsoft.com/office/powerpoint/2010/main" val="3317204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2"/>
                                        </p:tgtEl>
                                        <p:attrNameLst>
                                          <p:attrName>style.visibility</p:attrName>
                                        </p:attrNameLst>
                                      </p:cBhvr>
                                      <p:to>
                                        <p:strVal val="visible"/>
                                      </p:to>
                                    </p:set>
                                    <p:animEffect transition="in" filter="fade">
                                      <p:cBhvr>
                                        <p:cTn id="12" dur="500"/>
                                        <p:tgtEl>
                                          <p:spTgt spid="10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D6EEA017-44C7-A56E-EFBE-769D5BD3F0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E6F364A-CDFF-B4F6-8200-6E4584FEB3CE}"/>
              </a:ext>
            </a:extLst>
          </p:cNvPr>
          <p:cNvSpPr>
            <a:spLocks noGrp="1"/>
          </p:cNvSpPr>
          <p:nvPr>
            <p:ph type="title"/>
          </p:nvPr>
        </p:nvSpPr>
        <p:spPr>
          <a:xfrm>
            <a:off x="98323" y="0"/>
            <a:ext cx="4139381" cy="963561"/>
          </a:xfrm>
        </p:spPr>
        <p:txBody>
          <a:bodyPr/>
          <a:lstStyle/>
          <a:p>
            <a:r>
              <a:rPr lang="en-US" dirty="0">
                <a:solidFill>
                  <a:schemeClr val="tx1">
                    <a:lumMod val="75000"/>
                    <a:lumOff val="25000"/>
                  </a:schemeClr>
                </a:solidFill>
                <a:effectLst>
                  <a:glow rad="101600">
                    <a:schemeClr val="bg1">
                      <a:alpha val="60000"/>
                    </a:schemeClr>
                  </a:glow>
                </a:effectLst>
                <a:latin typeface="Algerian" panose="04020705040A02060702" pitchFamily="82" charset="0"/>
              </a:rPr>
              <a:t>INTRODUCTION </a:t>
            </a:r>
            <a:endParaRPr lang="en-IN" dirty="0">
              <a:solidFill>
                <a:schemeClr val="tx1">
                  <a:lumMod val="75000"/>
                  <a:lumOff val="25000"/>
                </a:schemeClr>
              </a:solidFill>
              <a:effectLst>
                <a:glow rad="101600">
                  <a:schemeClr val="bg1">
                    <a:alpha val="60000"/>
                  </a:schemeClr>
                </a:glow>
              </a:effectLst>
              <a:latin typeface="Algerian" panose="04020705040A02060702" pitchFamily="82" charset="0"/>
            </a:endParaRPr>
          </a:p>
        </p:txBody>
      </p:sp>
      <p:pic>
        <p:nvPicPr>
          <p:cNvPr id="4112" name="Picture 16" descr="Discover 900+ Pages to color and painting ideas | art painting, canvas  painting, landscape paintings and more">
            <a:extLst>
              <a:ext uri="{FF2B5EF4-FFF2-40B4-BE49-F238E27FC236}">
                <a16:creationId xmlns:a16="http://schemas.microsoft.com/office/drawing/2014/main" id="{F2DEF45A-C0B0-A1BE-5544-73E2E87FD463}"/>
              </a:ext>
            </a:extLst>
          </p:cNvPr>
          <p:cNvPicPr>
            <a:picLocks noChangeAspect="1" noChangeArrowheads="1"/>
          </p:cNvPicPr>
          <p:nvPr/>
        </p:nvPicPr>
        <p:blipFill>
          <a:blip r:embed="rId4">
            <a:alphaModFix amt="85000"/>
            <a:extLst>
              <a:ext uri="{28A0092B-C50C-407E-A947-70E740481C1C}">
                <a14:useLocalDpi xmlns:a14="http://schemas.microsoft.com/office/drawing/2010/main" val="0"/>
              </a:ext>
            </a:extLst>
          </a:blip>
          <a:srcRect/>
          <a:stretch>
            <a:fillRect/>
          </a:stretch>
        </p:blipFill>
        <p:spPr bwMode="auto">
          <a:xfrm>
            <a:off x="9521687" y="1328634"/>
            <a:ext cx="2491408" cy="4200731"/>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C05B3B28-CB7C-9DEF-6696-A600F70FDD1B}"/>
              </a:ext>
            </a:extLst>
          </p:cNvPr>
          <p:cNvSpPr>
            <a:spLocks noGrp="1"/>
          </p:cNvSpPr>
          <p:nvPr>
            <p:ph idx="1"/>
          </p:nvPr>
        </p:nvSpPr>
        <p:spPr>
          <a:xfrm>
            <a:off x="98323" y="884903"/>
            <a:ext cx="11995354" cy="5973097"/>
          </a:xfrm>
        </p:spPr>
        <p:txBody>
          <a:bodyPr>
            <a:normAutofit/>
          </a:bodyPr>
          <a:lstStyle/>
          <a:p>
            <a:pPr marL="0" indent="0">
              <a:buNone/>
            </a:pPr>
            <a:r>
              <a:rPr lang="en-US" dirty="0">
                <a:solidFill>
                  <a:schemeClr val="bg1"/>
                </a:solidFill>
              </a:rPr>
              <a:t>Painting is one of the oldest and most expressive forms of art, capturing emotions, stories, and moments from different cultures and time periods. Throughout history, artists have used colors, textures, and techniques to create masterpieces that reflect society, belief, and imagination. These artworks are preserved in museums around the world, each carrying a unique identity shaped by its artist, style, and origin.</a:t>
            </a:r>
          </a:p>
          <a:p>
            <a:pPr marL="0" indent="0">
              <a:buNone/>
            </a:pPr>
            <a:r>
              <a:rPr lang="en-US" dirty="0">
                <a:solidFill>
                  <a:schemeClr val="bg1"/>
                </a:solidFill>
              </a:rPr>
              <a:t>The </a:t>
            </a:r>
            <a:r>
              <a:rPr lang="en-US" b="1" dirty="0">
                <a:solidFill>
                  <a:schemeClr val="bg1"/>
                </a:solidFill>
              </a:rPr>
              <a:t>Painting Database Project</a:t>
            </a:r>
            <a:r>
              <a:rPr lang="en-US" dirty="0">
                <a:solidFill>
                  <a:schemeClr val="bg1"/>
                </a:solidFill>
              </a:rPr>
              <a:t> focuses on bringing together detailed information about famous paintings, their artists, and the museums where they are displayed. It helps in understanding the diversity of art styles, the contributions of artists from various nations, and the historical significance of their work. By organizing this data, the project provides a structured way to explore how art connects people across time and geography.</a:t>
            </a:r>
          </a:p>
          <a:p>
            <a:endParaRPr lang="en-IN" dirty="0"/>
          </a:p>
        </p:txBody>
      </p:sp>
    </p:spTree>
    <p:extLst>
      <p:ext uri="{BB962C8B-B14F-4D97-AF65-F5344CB8AC3E}">
        <p14:creationId xmlns:p14="http://schemas.microsoft.com/office/powerpoint/2010/main" val="2002877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12"/>
                                        </p:tgtEl>
                                        <p:attrNameLst>
                                          <p:attrName>style.visibility</p:attrName>
                                        </p:attrNameLst>
                                      </p:cBhvr>
                                      <p:to>
                                        <p:strVal val="visible"/>
                                      </p:to>
                                    </p:set>
                                    <p:animEffect transition="in" filter="fade">
                                      <p:cBhvr>
                                        <p:cTn id="17" dur="500"/>
                                        <p:tgtEl>
                                          <p:spTgt spid="41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1998CF2E-A789-79D3-EBCD-B44101CC4D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8490"/>
            <a:ext cx="12192000"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050" name="Picture 2" descr="40 Trendy Black And White Painting Ideas For Your Inspiration">
            <a:extLst>
              <a:ext uri="{FF2B5EF4-FFF2-40B4-BE49-F238E27FC236}">
                <a16:creationId xmlns:a16="http://schemas.microsoft.com/office/drawing/2014/main" id="{8D455DF4-B4C6-4236-3652-ADF559EA55B5}"/>
              </a:ext>
            </a:extLst>
          </p:cNvPr>
          <p:cNvPicPr>
            <a:picLocks noChangeAspect="1" noChangeArrowheads="1"/>
          </p:cNvPicPr>
          <p:nvPr/>
        </p:nvPicPr>
        <p:blipFill>
          <a:blip r:embed="rId3">
            <a:alphaModFix amt="77000"/>
            <a:extLst>
              <a:ext uri="{28A0092B-C50C-407E-A947-70E740481C1C}">
                <a14:useLocalDpi xmlns:a14="http://schemas.microsoft.com/office/drawing/2010/main" val="0"/>
              </a:ext>
            </a:extLst>
          </a:blip>
          <a:srcRect/>
          <a:stretch>
            <a:fillRect/>
          </a:stretch>
        </p:blipFill>
        <p:spPr bwMode="auto">
          <a:xfrm>
            <a:off x="8225219" y="773370"/>
            <a:ext cx="3966781" cy="5488239"/>
          </a:xfrm>
          <a:prstGeom prst="rect">
            <a:avLst/>
          </a:prstGeom>
          <a:noFill/>
          <a:ln>
            <a:noFill/>
          </a:ln>
          <a:effectLst>
            <a:outerShdw blurRad="57785" dist="33020" dir="3180000" algn="ctr">
              <a:srgbClr val="000000">
                <a:alpha val="30000"/>
              </a:srgbClr>
            </a:outerShdw>
            <a:softEdge rad="635000"/>
          </a:effectLst>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D3B36DB-F2DA-59FF-AF57-913610CF43C8}"/>
              </a:ext>
            </a:extLst>
          </p:cNvPr>
          <p:cNvSpPr>
            <a:spLocks noGrp="1"/>
          </p:cNvSpPr>
          <p:nvPr>
            <p:ph idx="1"/>
          </p:nvPr>
        </p:nvSpPr>
        <p:spPr>
          <a:xfrm>
            <a:off x="206477" y="871874"/>
            <a:ext cx="11985522" cy="5829056"/>
          </a:xfrm>
        </p:spPr>
        <p:txBody>
          <a:bodyPr>
            <a:normAutofit fontScale="92500" lnSpcReduction="10000"/>
          </a:bodyPr>
          <a:lstStyle/>
          <a:p>
            <a:pPr marL="0" indent="0">
              <a:buNone/>
            </a:pPr>
            <a:r>
              <a:rPr lang="en-US" sz="3600" dirty="0">
                <a:solidFill>
                  <a:schemeClr val="bg1"/>
                </a:solidFill>
              </a:rPr>
              <a:t>This project showcases the power of </a:t>
            </a:r>
            <a:r>
              <a:rPr lang="en-US" sz="3600" b="1" dirty="0">
                <a:solidFill>
                  <a:schemeClr val="bg1"/>
                </a:solidFill>
              </a:rPr>
              <a:t>SQL for data analysis and management</a:t>
            </a:r>
            <a:r>
              <a:rPr lang="en-US" sz="3600" dirty="0">
                <a:solidFill>
                  <a:schemeClr val="bg1"/>
                </a:solidFill>
              </a:rPr>
              <a:t> in a real-world scenario, combining historical and cultural data with structured queries to extract meaningful insights about the art world.</a:t>
            </a:r>
          </a:p>
          <a:p>
            <a:pPr marL="0" indent="0">
              <a:buNone/>
            </a:pPr>
            <a:r>
              <a:rPr lang="en-US" sz="3600" b="1" i="1" dirty="0">
                <a:solidFill>
                  <a:schemeClr val="bg1"/>
                </a:solidFill>
                <a:effectLst>
                  <a:glow rad="101600">
                    <a:schemeClr val="bg1">
                      <a:alpha val="60000"/>
                    </a:schemeClr>
                  </a:glow>
                </a:effectLst>
              </a:rPr>
              <a:t>Key Insights :</a:t>
            </a:r>
          </a:p>
          <a:p>
            <a:r>
              <a:rPr lang="en-US" sz="3600" dirty="0">
                <a:solidFill>
                  <a:schemeClr val="bg1"/>
                </a:solidFill>
              </a:rPr>
              <a:t>The dataset allows analysis of global artistic trends, museum collections, and cultural diversity.</a:t>
            </a:r>
          </a:p>
          <a:p>
            <a:r>
              <a:rPr lang="en-US" sz="3600" dirty="0">
                <a:solidFill>
                  <a:schemeClr val="bg1"/>
                </a:solidFill>
              </a:rPr>
              <a:t>It demonstrates how SQL can be used to perform data summarization, grouping, and filtering.</a:t>
            </a:r>
          </a:p>
          <a:p>
            <a:r>
              <a:rPr lang="en-US" sz="3600" dirty="0">
                <a:solidFill>
                  <a:schemeClr val="bg1"/>
                </a:solidFill>
              </a:rPr>
              <a:t>Useful for generating visualizations (like charts or dashboards) to represent the spread of art styles, time periods, and museum distributions.</a:t>
            </a:r>
          </a:p>
          <a:p>
            <a:pPr marL="0" indent="0">
              <a:buNone/>
            </a:pPr>
            <a:endParaRPr lang="en-US" sz="3600" dirty="0">
              <a:solidFill>
                <a:schemeClr val="bg1"/>
              </a:solidFill>
            </a:endParaRPr>
          </a:p>
        </p:txBody>
      </p:sp>
      <p:sp>
        <p:nvSpPr>
          <p:cNvPr id="2" name="Title 1">
            <a:extLst>
              <a:ext uri="{FF2B5EF4-FFF2-40B4-BE49-F238E27FC236}">
                <a16:creationId xmlns:a16="http://schemas.microsoft.com/office/drawing/2014/main" id="{75CFA3D7-BC30-7FE8-BED4-93AA80698555}"/>
              </a:ext>
            </a:extLst>
          </p:cNvPr>
          <p:cNvSpPr>
            <a:spLocks noGrp="1"/>
          </p:cNvSpPr>
          <p:nvPr>
            <p:ph type="title"/>
          </p:nvPr>
        </p:nvSpPr>
        <p:spPr>
          <a:xfrm>
            <a:off x="206477" y="849015"/>
            <a:ext cx="11147323" cy="45719"/>
          </a:xfrm>
        </p:spPr>
        <p:txBody>
          <a:bodyPr>
            <a:normAutofit fontScale="90000"/>
          </a:bodyPr>
          <a:lstStyle/>
          <a:p>
            <a:r>
              <a:rPr lang="en-US" b="1" i="1" dirty="0">
                <a:effectLst>
                  <a:glow rad="101600">
                    <a:schemeClr val="bg1">
                      <a:alpha val="60000"/>
                    </a:schemeClr>
                  </a:glow>
                </a:effectLst>
              </a:rPr>
              <a:t>SUMMARY  </a:t>
            </a:r>
            <a:br>
              <a:rPr lang="en-US" dirty="0">
                <a:effectLst>
                  <a:glow rad="101600">
                    <a:schemeClr val="bg1">
                      <a:alpha val="60000"/>
                    </a:schemeClr>
                  </a:glow>
                </a:effectLst>
              </a:rPr>
            </a:br>
            <a:endParaRPr lang="en-IN" dirty="0"/>
          </a:p>
        </p:txBody>
      </p:sp>
    </p:spTree>
    <p:extLst>
      <p:ext uri="{BB962C8B-B14F-4D97-AF65-F5344CB8AC3E}">
        <p14:creationId xmlns:p14="http://schemas.microsoft.com/office/powerpoint/2010/main" val="220312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50"/>
                                        </p:tgtEl>
                                        <p:attrNameLst>
                                          <p:attrName>style.visibility</p:attrName>
                                        </p:attrNameLst>
                                      </p:cBhvr>
                                      <p:to>
                                        <p:strVal val="visible"/>
                                      </p:to>
                                    </p:set>
                                    <p:animEffect transition="in" filter="fade">
                                      <p:cBhvr>
                                        <p:cTn id="17" dur="500"/>
                                        <p:tgtEl>
                                          <p:spTgt spid="205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500"/>
                                        <p:tgtEl>
                                          <p:spTgt spid="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F97B390D-3C56-6030-288A-18DF0AF926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43" y="1"/>
            <a:ext cx="12191996" cy="685799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18ED01A-2020-E12B-7D9B-DCD94268BAE9}"/>
              </a:ext>
            </a:extLst>
          </p:cNvPr>
          <p:cNvSpPr>
            <a:spLocks noGrp="1"/>
          </p:cNvSpPr>
          <p:nvPr>
            <p:ph type="title"/>
          </p:nvPr>
        </p:nvSpPr>
        <p:spPr>
          <a:xfrm>
            <a:off x="109330" y="2"/>
            <a:ext cx="5536096" cy="874642"/>
          </a:xfrm>
        </p:spPr>
        <p:txBody>
          <a:bodyPr/>
          <a:lstStyle/>
          <a:p>
            <a:r>
              <a:rPr lang="en-IN" dirty="0">
                <a:effectLst>
                  <a:glow rad="101600">
                    <a:schemeClr val="bg1">
                      <a:alpha val="60000"/>
                    </a:schemeClr>
                  </a:glow>
                </a:effectLst>
              </a:rPr>
              <a:t>DATABASE STRUCTURE</a:t>
            </a:r>
          </a:p>
        </p:txBody>
      </p:sp>
      <p:sp>
        <p:nvSpPr>
          <p:cNvPr id="3" name="Content Placeholder 2">
            <a:extLst>
              <a:ext uri="{FF2B5EF4-FFF2-40B4-BE49-F238E27FC236}">
                <a16:creationId xmlns:a16="http://schemas.microsoft.com/office/drawing/2014/main" id="{5A4EECCE-0FF8-EF3F-F579-C080EBD6326C}"/>
              </a:ext>
            </a:extLst>
          </p:cNvPr>
          <p:cNvSpPr>
            <a:spLocks noGrp="1"/>
          </p:cNvSpPr>
          <p:nvPr>
            <p:ph idx="1"/>
          </p:nvPr>
        </p:nvSpPr>
        <p:spPr>
          <a:xfrm>
            <a:off x="109330" y="874643"/>
            <a:ext cx="11973340" cy="5854148"/>
          </a:xfrm>
        </p:spPr>
        <p:txBody>
          <a:bodyPr>
            <a:normAutofit/>
          </a:bodyPr>
          <a:lstStyle/>
          <a:p>
            <a:pPr marL="0" indent="0">
              <a:buNone/>
            </a:pPr>
            <a:r>
              <a:rPr lang="en-US" sz="2400" dirty="0">
                <a:solidFill>
                  <a:schemeClr val="bg1"/>
                </a:solidFill>
              </a:rPr>
              <a:t>Here’s the ER Diagram for the Database </a:t>
            </a:r>
            <a:endParaRPr lang="en-IN" sz="2400" dirty="0">
              <a:solidFill>
                <a:schemeClr val="bg1"/>
              </a:solidFill>
            </a:endParaRPr>
          </a:p>
        </p:txBody>
      </p:sp>
      <p:pic>
        <p:nvPicPr>
          <p:cNvPr id="10" name="Picture 9">
            <a:extLst>
              <a:ext uri="{FF2B5EF4-FFF2-40B4-BE49-F238E27FC236}">
                <a16:creationId xmlns:a16="http://schemas.microsoft.com/office/drawing/2014/main" id="{61E7936A-4740-6628-F6E9-4085C18BD5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626" y="1341783"/>
            <a:ext cx="11290852" cy="5116589"/>
          </a:xfrm>
          <a:prstGeom prst="rect">
            <a:avLst/>
          </a:prstGeom>
          <a:effectLst>
            <a:glow rad="101600">
              <a:schemeClr val="bg1">
                <a:alpha val="60000"/>
              </a:schemeClr>
            </a:glow>
            <a:softEdge rad="12700"/>
          </a:effectLst>
        </p:spPr>
      </p:pic>
    </p:spTree>
    <p:extLst>
      <p:ext uri="{BB962C8B-B14F-4D97-AF65-F5344CB8AC3E}">
        <p14:creationId xmlns:p14="http://schemas.microsoft.com/office/powerpoint/2010/main" val="12817287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99A56276-0985-591A-70C3-3FC1899ADF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94649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32ECFB96-5109-EEDE-8566-7B8208CDA839}"/>
              </a:ext>
            </a:extLst>
          </p:cNvPr>
          <p:cNvSpPr>
            <a:spLocks noGrp="1"/>
          </p:cNvSpPr>
          <p:nvPr>
            <p:ph idx="1"/>
          </p:nvPr>
        </p:nvSpPr>
        <p:spPr>
          <a:xfrm>
            <a:off x="89452" y="884584"/>
            <a:ext cx="11807687" cy="5973416"/>
          </a:xfrm>
        </p:spPr>
        <p:txBody>
          <a:bodyPr>
            <a:normAutofit/>
          </a:bodyPr>
          <a:lstStyle/>
          <a:p>
            <a:pPr marL="0" indent="0">
              <a:buNone/>
            </a:pPr>
            <a:r>
              <a:rPr lang="en-US" dirty="0">
                <a:solidFill>
                  <a:schemeClr val="bg1"/>
                </a:solidFill>
                <a:latin typeface="Aptos Display" panose="020B0004020202020204" pitchFamily="34" charset="0"/>
              </a:rPr>
              <a:t>How Many Artist Are There?</a:t>
            </a:r>
          </a:p>
          <a:p>
            <a:pPr marL="0" indent="0">
              <a:buNone/>
            </a:pPr>
            <a:endParaRPr lang="en-IN" dirty="0">
              <a:solidFill>
                <a:schemeClr val="bg1"/>
              </a:solidFill>
              <a:latin typeface="Aptos Display" panose="020B0004020202020204" pitchFamily="34" charset="0"/>
            </a:endParaRPr>
          </a:p>
          <a:p>
            <a:pPr marL="0" indent="0">
              <a:buNone/>
            </a:pPr>
            <a:endParaRPr lang="en-IN" dirty="0">
              <a:solidFill>
                <a:schemeClr val="bg1"/>
              </a:solidFill>
              <a:latin typeface="Aptos Display" panose="020B0004020202020204" pitchFamily="34" charset="0"/>
            </a:endParaRPr>
          </a:p>
          <a:p>
            <a:pPr marL="0" indent="0">
              <a:buNone/>
            </a:pPr>
            <a:endParaRPr lang="en-IN" dirty="0">
              <a:solidFill>
                <a:schemeClr val="bg1"/>
              </a:solidFill>
              <a:latin typeface="Aptos Display" panose="020B0004020202020204" pitchFamily="34" charset="0"/>
            </a:endParaRPr>
          </a:p>
          <a:p>
            <a:pPr marL="0" indent="0">
              <a:buNone/>
            </a:pPr>
            <a:endParaRPr lang="en-IN" dirty="0">
              <a:solidFill>
                <a:schemeClr val="bg1"/>
              </a:solidFill>
              <a:latin typeface="Aptos Display" panose="020B0004020202020204" pitchFamily="34" charset="0"/>
            </a:endParaRPr>
          </a:p>
          <a:p>
            <a:pPr marL="0" indent="0">
              <a:buNone/>
            </a:pPr>
            <a:endParaRPr lang="en-IN" dirty="0">
              <a:solidFill>
                <a:schemeClr val="bg1"/>
              </a:solidFill>
            </a:endParaRPr>
          </a:p>
          <a:p>
            <a:pPr marL="0" indent="0">
              <a:buNone/>
            </a:pPr>
            <a:r>
              <a:rPr lang="en-IN" dirty="0">
                <a:solidFill>
                  <a:schemeClr val="bg1"/>
                </a:solidFill>
              </a:rPr>
              <a:t>Insights : -</a:t>
            </a:r>
          </a:p>
          <a:p>
            <a:r>
              <a:rPr lang="en-US" dirty="0">
                <a:solidFill>
                  <a:schemeClr val="bg1"/>
                </a:solidFill>
              </a:rPr>
              <a:t>The database contains 421 artists, indicating a diverse collection covering multiple art.</a:t>
            </a:r>
          </a:p>
          <a:p>
            <a:r>
              <a:rPr lang="en-US" dirty="0">
                <a:solidFill>
                  <a:schemeClr val="bg1"/>
                </a:solidFill>
              </a:rPr>
              <a:t>It’s a basic query which returns only one column.</a:t>
            </a:r>
            <a:endParaRPr lang="en-IN" dirty="0">
              <a:solidFill>
                <a:schemeClr val="bg1"/>
              </a:solidFill>
            </a:endParaRPr>
          </a:p>
        </p:txBody>
      </p:sp>
      <p:sp>
        <p:nvSpPr>
          <p:cNvPr id="2" name="Title 1">
            <a:extLst>
              <a:ext uri="{FF2B5EF4-FFF2-40B4-BE49-F238E27FC236}">
                <a16:creationId xmlns:a16="http://schemas.microsoft.com/office/drawing/2014/main" id="{DAB1B6BD-1816-8257-AA88-7461831D381D}"/>
              </a:ext>
            </a:extLst>
          </p:cNvPr>
          <p:cNvSpPr>
            <a:spLocks noGrp="1"/>
          </p:cNvSpPr>
          <p:nvPr>
            <p:ph type="title"/>
          </p:nvPr>
        </p:nvSpPr>
        <p:spPr>
          <a:xfrm>
            <a:off x="89452" y="0"/>
            <a:ext cx="11264348" cy="1719470"/>
          </a:xfrm>
        </p:spPr>
        <p:txBody>
          <a:bodyPr>
            <a:normAutofit/>
          </a:bodyPr>
          <a:lstStyle/>
          <a:p>
            <a:r>
              <a:rPr lang="en-IN" b="1" dirty="0">
                <a:effectLst>
                  <a:glow rad="101600">
                    <a:schemeClr val="bg1">
                      <a:alpha val="60000"/>
                    </a:schemeClr>
                  </a:glow>
                </a:effectLst>
                <a:latin typeface="Algerian" panose="04020705040A02060702" pitchFamily="82" charset="0"/>
              </a:rPr>
              <a:t>Basic SQL Queries</a:t>
            </a:r>
            <a:br>
              <a:rPr lang="en-IN" dirty="0">
                <a:solidFill>
                  <a:schemeClr val="bg1"/>
                </a:solidFill>
              </a:rPr>
            </a:br>
            <a:endParaRPr lang="en-IN" dirty="0">
              <a:effectLst>
                <a:glow rad="101600">
                  <a:schemeClr val="bg1">
                    <a:alpha val="60000"/>
                  </a:schemeClr>
                </a:glow>
              </a:effectLst>
            </a:endParaRPr>
          </a:p>
        </p:txBody>
      </p:sp>
      <p:pic>
        <p:nvPicPr>
          <p:cNvPr id="6" name="Picture 5">
            <a:extLst>
              <a:ext uri="{FF2B5EF4-FFF2-40B4-BE49-F238E27FC236}">
                <a16:creationId xmlns:a16="http://schemas.microsoft.com/office/drawing/2014/main" id="{44CB4B4E-2372-80D6-FCDD-865DFBDB062D}"/>
              </a:ext>
            </a:extLst>
          </p:cNvPr>
          <p:cNvPicPr>
            <a:picLocks noChangeAspect="1"/>
          </p:cNvPicPr>
          <p:nvPr/>
        </p:nvPicPr>
        <p:blipFill>
          <a:blip r:embed="rId3"/>
          <a:stretch>
            <a:fillRect/>
          </a:stretch>
        </p:blipFill>
        <p:spPr>
          <a:xfrm>
            <a:off x="4856923" y="2097637"/>
            <a:ext cx="5396947" cy="1838259"/>
          </a:xfrm>
          <a:prstGeom prst="rect">
            <a:avLst/>
          </a:prstGeom>
          <a:effectLst>
            <a:glow rad="101600">
              <a:schemeClr val="bg1">
                <a:alpha val="40000"/>
              </a:schemeClr>
            </a:glow>
            <a:softEdge rad="12700"/>
          </a:effectLst>
        </p:spPr>
      </p:pic>
    </p:spTree>
    <p:extLst>
      <p:ext uri="{BB962C8B-B14F-4D97-AF65-F5344CB8AC3E}">
        <p14:creationId xmlns:p14="http://schemas.microsoft.com/office/powerpoint/2010/main" val="21645391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50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110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5DB76327-9AE9-0DCB-24DE-66A4B11CFB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94649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3046206-34FD-6801-782C-B76D4DB2A9B6}"/>
              </a:ext>
            </a:extLst>
          </p:cNvPr>
          <p:cNvSpPr>
            <a:spLocks noGrp="1"/>
          </p:cNvSpPr>
          <p:nvPr>
            <p:ph type="title"/>
          </p:nvPr>
        </p:nvSpPr>
        <p:spPr>
          <a:xfrm>
            <a:off x="139149" y="139150"/>
            <a:ext cx="6261652" cy="815008"/>
          </a:xfrm>
        </p:spPr>
        <p:txBody>
          <a:bodyPr/>
          <a:lstStyle/>
          <a:p>
            <a:r>
              <a:rPr lang="en-US" dirty="0">
                <a:solidFill>
                  <a:schemeClr val="bg1"/>
                </a:solidFill>
                <a:latin typeface="Arial Narrow" panose="020B0606020202030204" pitchFamily="34" charset="0"/>
              </a:rPr>
              <a:t>How many arts are there?</a:t>
            </a:r>
            <a:endParaRPr lang="en-IN" dirty="0">
              <a:solidFill>
                <a:schemeClr val="bg1"/>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BCD936BD-B7A0-71C1-2A30-9C1BF0DD46F4}"/>
              </a:ext>
            </a:extLst>
          </p:cNvPr>
          <p:cNvSpPr>
            <a:spLocks noGrp="1"/>
          </p:cNvSpPr>
          <p:nvPr>
            <p:ph idx="1"/>
          </p:nvPr>
        </p:nvSpPr>
        <p:spPr>
          <a:xfrm>
            <a:off x="2156790" y="3075680"/>
            <a:ext cx="8160027" cy="3782320"/>
          </a:xfrm>
        </p:spPr>
        <p:txBody>
          <a:bodyPr>
            <a:normAutofit/>
          </a:bodyPr>
          <a:lstStyle/>
          <a:p>
            <a:pPr marL="0" indent="0">
              <a:buNone/>
            </a:pPr>
            <a:r>
              <a:rPr lang="en-US" sz="3200" dirty="0">
                <a:solidFill>
                  <a:schemeClr val="bg1"/>
                </a:solidFill>
              </a:rPr>
              <a:t>Insight : -</a:t>
            </a:r>
          </a:p>
          <a:p>
            <a:r>
              <a:rPr lang="en-US" dirty="0">
                <a:solidFill>
                  <a:schemeClr val="bg1"/>
                </a:solidFill>
              </a:rPr>
              <a:t>The database contains a total of 14775 paintings.</a:t>
            </a:r>
          </a:p>
          <a:p>
            <a:r>
              <a:rPr lang="en-US" dirty="0">
                <a:solidFill>
                  <a:schemeClr val="bg1"/>
                </a:solidFill>
              </a:rPr>
              <a:t>This indicates the overall size of the art collection being analyzed. </a:t>
            </a:r>
          </a:p>
          <a:p>
            <a:r>
              <a:rPr lang="en-US" dirty="0">
                <a:solidFill>
                  <a:schemeClr val="bg1"/>
                </a:solidFill>
              </a:rPr>
              <a:t>A larger amount of data allows for us to have a deep comprehension.</a:t>
            </a:r>
            <a:endParaRPr lang="en-IN" dirty="0">
              <a:solidFill>
                <a:schemeClr val="bg1"/>
              </a:solidFill>
            </a:endParaRPr>
          </a:p>
        </p:txBody>
      </p:sp>
      <p:pic>
        <p:nvPicPr>
          <p:cNvPr id="6" name="Picture 5">
            <a:extLst>
              <a:ext uri="{FF2B5EF4-FFF2-40B4-BE49-F238E27FC236}">
                <a16:creationId xmlns:a16="http://schemas.microsoft.com/office/drawing/2014/main" id="{8A8EC393-DA0B-3ACA-F814-A175DDC23350}"/>
              </a:ext>
            </a:extLst>
          </p:cNvPr>
          <p:cNvPicPr>
            <a:picLocks noChangeAspect="1"/>
          </p:cNvPicPr>
          <p:nvPr/>
        </p:nvPicPr>
        <p:blipFill>
          <a:blip r:embed="rId3"/>
          <a:stretch>
            <a:fillRect/>
          </a:stretch>
        </p:blipFill>
        <p:spPr>
          <a:xfrm>
            <a:off x="3687418" y="1326393"/>
            <a:ext cx="5426765" cy="1749287"/>
          </a:xfrm>
          <a:prstGeom prst="rect">
            <a:avLst/>
          </a:prstGeom>
        </p:spPr>
      </p:pic>
    </p:spTree>
    <p:extLst>
      <p:ext uri="{BB962C8B-B14F-4D97-AF65-F5344CB8AC3E}">
        <p14:creationId xmlns:p14="http://schemas.microsoft.com/office/powerpoint/2010/main" val="42073512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07DF8A55-5D7F-48A6-A037-3FD46954B2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94649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8C587E3-F98B-6CA2-0FEA-9DEF0EB15842}"/>
              </a:ext>
            </a:extLst>
          </p:cNvPr>
          <p:cNvSpPr>
            <a:spLocks noGrp="1"/>
          </p:cNvSpPr>
          <p:nvPr>
            <p:ph type="title"/>
          </p:nvPr>
        </p:nvSpPr>
        <p:spPr>
          <a:xfrm>
            <a:off x="178904" y="1"/>
            <a:ext cx="11174896" cy="1690688"/>
          </a:xfrm>
        </p:spPr>
        <p:txBody>
          <a:bodyPr/>
          <a:lstStyle/>
          <a:p>
            <a:r>
              <a:rPr lang="en-US" dirty="0">
                <a:solidFill>
                  <a:schemeClr val="bg1"/>
                </a:solidFill>
                <a:latin typeface="Arial Narrow" panose="020B0606020202030204" pitchFamily="34" charset="0"/>
              </a:rPr>
              <a:t>How many different nationality and how many artist from there?</a:t>
            </a:r>
            <a:endParaRPr lang="en-IN" dirty="0">
              <a:solidFill>
                <a:schemeClr val="bg1"/>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24439BDC-983B-4DEC-F4AF-D9FD932F1F69}"/>
              </a:ext>
            </a:extLst>
          </p:cNvPr>
          <p:cNvSpPr>
            <a:spLocks noGrp="1"/>
          </p:cNvSpPr>
          <p:nvPr>
            <p:ph idx="1"/>
          </p:nvPr>
        </p:nvSpPr>
        <p:spPr>
          <a:xfrm>
            <a:off x="1437860" y="3826565"/>
            <a:ext cx="8898836" cy="3031433"/>
          </a:xfrm>
        </p:spPr>
        <p:txBody>
          <a:bodyPr>
            <a:normAutofit lnSpcReduction="10000"/>
          </a:bodyPr>
          <a:lstStyle/>
          <a:p>
            <a:pPr marL="0" indent="0">
              <a:buNone/>
            </a:pPr>
            <a:r>
              <a:rPr lang="en-US" dirty="0">
                <a:solidFill>
                  <a:schemeClr val="bg1"/>
                </a:solidFill>
              </a:rPr>
              <a:t>Insight : -</a:t>
            </a:r>
          </a:p>
          <a:p>
            <a:r>
              <a:rPr lang="en-US" dirty="0">
                <a:solidFill>
                  <a:schemeClr val="bg1"/>
                </a:solidFill>
              </a:rPr>
              <a:t>The analysis reveals that the database includes artists from </a:t>
            </a:r>
            <a:r>
              <a:rPr lang="en-US" b="1" dirty="0">
                <a:solidFill>
                  <a:schemeClr val="bg1"/>
                </a:solidFill>
              </a:rPr>
              <a:t>multiple nationalities</a:t>
            </a:r>
            <a:r>
              <a:rPr lang="en-US" dirty="0">
                <a:solidFill>
                  <a:schemeClr val="bg1"/>
                </a:solidFill>
              </a:rPr>
              <a:t>, highlighting the international nature of the collection.</a:t>
            </a:r>
          </a:p>
          <a:p>
            <a:r>
              <a:rPr lang="en-US" dirty="0">
                <a:solidFill>
                  <a:schemeClr val="bg1"/>
                </a:solidFill>
              </a:rPr>
              <a:t>The majority of artists belong to countries such as French, American, Dutch which were historically major centers of art.</a:t>
            </a:r>
            <a:endParaRPr lang="en-IN" dirty="0">
              <a:solidFill>
                <a:schemeClr val="bg1"/>
              </a:solidFill>
            </a:endParaRPr>
          </a:p>
        </p:txBody>
      </p:sp>
      <p:pic>
        <p:nvPicPr>
          <p:cNvPr id="6" name="Picture 5">
            <a:extLst>
              <a:ext uri="{FF2B5EF4-FFF2-40B4-BE49-F238E27FC236}">
                <a16:creationId xmlns:a16="http://schemas.microsoft.com/office/drawing/2014/main" id="{4E105F83-7B7E-358E-0D54-8B8201FEE073}"/>
              </a:ext>
            </a:extLst>
          </p:cNvPr>
          <p:cNvPicPr>
            <a:picLocks noChangeAspect="1"/>
          </p:cNvPicPr>
          <p:nvPr/>
        </p:nvPicPr>
        <p:blipFill>
          <a:blip r:embed="rId3"/>
          <a:stretch>
            <a:fillRect/>
          </a:stretch>
        </p:blipFill>
        <p:spPr>
          <a:xfrm>
            <a:off x="3130826" y="1690689"/>
            <a:ext cx="5512904" cy="1878495"/>
          </a:xfrm>
          <a:prstGeom prst="rect">
            <a:avLst/>
          </a:prstGeom>
          <a:effectLst>
            <a:glow rad="101600">
              <a:schemeClr val="bg1">
                <a:alpha val="60000"/>
              </a:schemeClr>
            </a:glow>
            <a:softEdge rad="12700"/>
          </a:effectLst>
        </p:spPr>
      </p:pic>
    </p:spTree>
    <p:extLst>
      <p:ext uri="{BB962C8B-B14F-4D97-AF65-F5344CB8AC3E}">
        <p14:creationId xmlns:p14="http://schemas.microsoft.com/office/powerpoint/2010/main" val="13379408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6E285764-9F01-D43A-FAF6-EFB8E1B9FF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94649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474383C-FF0C-6C5B-5E70-9CA9C4814C42}"/>
              </a:ext>
            </a:extLst>
          </p:cNvPr>
          <p:cNvSpPr>
            <a:spLocks noGrp="1"/>
          </p:cNvSpPr>
          <p:nvPr>
            <p:ph type="title"/>
          </p:nvPr>
        </p:nvSpPr>
        <p:spPr>
          <a:xfrm>
            <a:off x="129209" y="1"/>
            <a:ext cx="8547652" cy="1232451"/>
          </a:xfrm>
        </p:spPr>
        <p:txBody>
          <a:bodyPr/>
          <a:lstStyle/>
          <a:p>
            <a:r>
              <a:rPr lang="en-US" dirty="0">
                <a:solidFill>
                  <a:schemeClr val="bg1"/>
                </a:solidFill>
                <a:latin typeface="Arial Narrow" panose="020B0606020202030204" pitchFamily="34" charset="0"/>
              </a:rPr>
              <a:t>how many different type of art style?</a:t>
            </a:r>
            <a:endParaRPr lang="en-IN" dirty="0">
              <a:solidFill>
                <a:schemeClr val="bg1"/>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2BEF6A4D-FBD8-BC8E-6A74-57F753CD0D58}"/>
              </a:ext>
            </a:extLst>
          </p:cNvPr>
          <p:cNvSpPr>
            <a:spLocks noGrp="1"/>
          </p:cNvSpPr>
          <p:nvPr>
            <p:ph idx="1"/>
          </p:nvPr>
        </p:nvSpPr>
        <p:spPr>
          <a:xfrm>
            <a:off x="1908313" y="4124739"/>
            <a:ext cx="8816010" cy="2345635"/>
          </a:xfrm>
        </p:spPr>
        <p:txBody>
          <a:bodyPr>
            <a:normAutofit fontScale="77500" lnSpcReduction="20000"/>
          </a:bodyPr>
          <a:lstStyle/>
          <a:p>
            <a:pPr marL="0" indent="0">
              <a:buNone/>
            </a:pPr>
            <a:r>
              <a:rPr lang="en-US" dirty="0">
                <a:solidFill>
                  <a:schemeClr val="bg1"/>
                </a:solidFill>
              </a:rPr>
              <a:t>Insight : - </a:t>
            </a:r>
          </a:p>
          <a:p>
            <a:pPr marL="0" indent="0">
              <a:buNone/>
            </a:pPr>
            <a:endParaRPr lang="en-US" dirty="0">
              <a:solidFill>
                <a:schemeClr val="bg1"/>
              </a:solidFill>
            </a:endParaRPr>
          </a:p>
          <a:p>
            <a:r>
              <a:rPr lang="en-US" dirty="0">
                <a:solidFill>
                  <a:schemeClr val="bg1"/>
                </a:solidFill>
              </a:rPr>
              <a:t>The database includes a total of 35 distinct art styles.</a:t>
            </a:r>
          </a:p>
          <a:p>
            <a:r>
              <a:rPr lang="en-US" dirty="0">
                <a:solidFill>
                  <a:schemeClr val="bg1"/>
                </a:solidFill>
              </a:rPr>
              <a:t>Showing a rich variety of artistic movements represented in the collection.</a:t>
            </a:r>
          </a:p>
          <a:p>
            <a:r>
              <a:rPr lang="en-US" dirty="0">
                <a:solidFill>
                  <a:schemeClr val="bg1"/>
                </a:solidFill>
              </a:rPr>
              <a:t>This diversity reflects how art evolved across different periods and culture</a:t>
            </a:r>
            <a:br>
              <a:rPr lang="en-US" dirty="0">
                <a:solidFill>
                  <a:schemeClr val="bg1"/>
                </a:solidFill>
              </a:rPr>
            </a:br>
            <a:endParaRPr lang="en-IN" dirty="0">
              <a:solidFill>
                <a:schemeClr val="bg1"/>
              </a:solidFill>
            </a:endParaRPr>
          </a:p>
        </p:txBody>
      </p:sp>
      <p:pic>
        <p:nvPicPr>
          <p:cNvPr id="6" name="Picture 5">
            <a:extLst>
              <a:ext uri="{FF2B5EF4-FFF2-40B4-BE49-F238E27FC236}">
                <a16:creationId xmlns:a16="http://schemas.microsoft.com/office/drawing/2014/main" id="{4AC0CB49-4169-6A3D-7D5F-918E607F272F}"/>
              </a:ext>
            </a:extLst>
          </p:cNvPr>
          <p:cNvPicPr>
            <a:picLocks noChangeAspect="1"/>
          </p:cNvPicPr>
          <p:nvPr/>
        </p:nvPicPr>
        <p:blipFill>
          <a:blip r:embed="rId3"/>
          <a:stretch>
            <a:fillRect/>
          </a:stretch>
        </p:blipFill>
        <p:spPr>
          <a:xfrm>
            <a:off x="3289852" y="1837777"/>
            <a:ext cx="5078896" cy="1591223"/>
          </a:xfrm>
          <a:prstGeom prst="rect">
            <a:avLst/>
          </a:prstGeom>
          <a:effectLst>
            <a:glow rad="101600">
              <a:schemeClr val="bg1">
                <a:alpha val="60000"/>
              </a:schemeClr>
            </a:glow>
            <a:softEdge rad="12700"/>
          </a:effectLst>
        </p:spPr>
      </p:pic>
    </p:spTree>
    <p:extLst>
      <p:ext uri="{BB962C8B-B14F-4D97-AF65-F5344CB8AC3E}">
        <p14:creationId xmlns:p14="http://schemas.microsoft.com/office/powerpoint/2010/main" val="9435853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50D493FF-63E5-A065-2791-216806FADD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94649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AF16E8D-9BCE-4F81-900C-5355FC5A4606}"/>
              </a:ext>
            </a:extLst>
          </p:cNvPr>
          <p:cNvSpPr>
            <a:spLocks noGrp="1"/>
          </p:cNvSpPr>
          <p:nvPr>
            <p:ph type="title"/>
          </p:nvPr>
        </p:nvSpPr>
        <p:spPr>
          <a:xfrm>
            <a:off x="192157" y="166344"/>
            <a:ext cx="9886121" cy="1006474"/>
          </a:xfrm>
        </p:spPr>
        <p:txBody>
          <a:bodyPr>
            <a:normAutofit fontScale="90000"/>
          </a:bodyPr>
          <a:lstStyle/>
          <a:p>
            <a:r>
              <a:rPr lang="en-US" dirty="0">
                <a:solidFill>
                  <a:schemeClr val="bg1"/>
                </a:solidFill>
                <a:latin typeface="Arial Narrow" panose="020B0606020202030204" pitchFamily="34" charset="0"/>
              </a:rPr>
              <a:t>How many artist were born and died in 1800-1900?</a:t>
            </a:r>
            <a:endParaRPr lang="en-IN" dirty="0">
              <a:solidFill>
                <a:schemeClr val="bg1"/>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A45F7FC4-F3BF-D0CA-5857-881B726A0BDE}"/>
              </a:ext>
            </a:extLst>
          </p:cNvPr>
          <p:cNvSpPr>
            <a:spLocks noGrp="1"/>
          </p:cNvSpPr>
          <p:nvPr>
            <p:ph idx="1"/>
          </p:nvPr>
        </p:nvSpPr>
        <p:spPr>
          <a:xfrm>
            <a:off x="838200" y="4313582"/>
            <a:ext cx="10515600" cy="2378073"/>
          </a:xfrm>
        </p:spPr>
        <p:txBody>
          <a:bodyPr>
            <a:normAutofit lnSpcReduction="10000"/>
          </a:bodyPr>
          <a:lstStyle/>
          <a:p>
            <a:pPr marL="0" indent="0">
              <a:buNone/>
            </a:pPr>
            <a:r>
              <a:rPr lang="en-US" dirty="0">
                <a:solidFill>
                  <a:schemeClr val="bg1"/>
                </a:solidFill>
              </a:rPr>
              <a:t>Insight : - </a:t>
            </a:r>
          </a:p>
          <a:p>
            <a:r>
              <a:rPr lang="en-US" dirty="0">
                <a:solidFill>
                  <a:schemeClr val="bg1"/>
                </a:solidFill>
              </a:rPr>
              <a:t>This query shows how many were born and died between the 1800-1900 time period.</a:t>
            </a:r>
          </a:p>
          <a:p>
            <a:r>
              <a:rPr lang="en-US" dirty="0">
                <a:solidFill>
                  <a:schemeClr val="bg1"/>
                </a:solidFill>
              </a:rPr>
              <a:t>Total 120 were born while 120 died.</a:t>
            </a:r>
          </a:p>
          <a:p>
            <a:r>
              <a:rPr lang="en-US" dirty="0">
                <a:solidFill>
                  <a:schemeClr val="bg1"/>
                </a:solidFill>
              </a:rPr>
              <a:t>It shows this period was known for artistic approach.</a:t>
            </a:r>
            <a:endParaRPr lang="en-IN" dirty="0">
              <a:solidFill>
                <a:schemeClr val="bg1"/>
              </a:solidFill>
            </a:endParaRPr>
          </a:p>
        </p:txBody>
      </p:sp>
      <p:pic>
        <p:nvPicPr>
          <p:cNvPr id="6" name="Picture 5">
            <a:extLst>
              <a:ext uri="{FF2B5EF4-FFF2-40B4-BE49-F238E27FC236}">
                <a16:creationId xmlns:a16="http://schemas.microsoft.com/office/drawing/2014/main" id="{778F6A34-776F-7441-0779-3459F256107D}"/>
              </a:ext>
            </a:extLst>
          </p:cNvPr>
          <p:cNvPicPr>
            <a:picLocks noChangeAspect="1"/>
          </p:cNvPicPr>
          <p:nvPr/>
        </p:nvPicPr>
        <p:blipFill>
          <a:blip r:embed="rId3"/>
          <a:stretch>
            <a:fillRect/>
          </a:stretch>
        </p:blipFill>
        <p:spPr>
          <a:xfrm>
            <a:off x="2842591" y="1540565"/>
            <a:ext cx="6798366" cy="2276061"/>
          </a:xfrm>
          <a:prstGeom prst="rect">
            <a:avLst/>
          </a:prstGeom>
        </p:spPr>
      </p:pic>
    </p:spTree>
    <p:extLst>
      <p:ext uri="{BB962C8B-B14F-4D97-AF65-F5344CB8AC3E}">
        <p14:creationId xmlns:p14="http://schemas.microsoft.com/office/powerpoint/2010/main" val="2768435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AAB3DDBD-3865-5BC0-9B88-21E61C02BD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94649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15C5C91-01C7-CD01-05B5-05F40A1BE53E}"/>
              </a:ext>
            </a:extLst>
          </p:cNvPr>
          <p:cNvSpPr>
            <a:spLocks noGrp="1"/>
          </p:cNvSpPr>
          <p:nvPr>
            <p:ph type="title"/>
          </p:nvPr>
        </p:nvSpPr>
        <p:spPr>
          <a:xfrm>
            <a:off x="129208" y="109330"/>
            <a:ext cx="9740591" cy="2604050"/>
          </a:xfrm>
        </p:spPr>
        <p:txBody>
          <a:bodyPr>
            <a:normAutofit/>
          </a:bodyPr>
          <a:lstStyle/>
          <a:p>
            <a:r>
              <a:rPr lang="en-IN" dirty="0">
                <a:effectLst>
                  <a:glow rad="101600">
                    <a:schemeClr val="bg1">
                      <a:alpha val="60000"/>
                    </a:schemeClr>
                  </a:glow>
                </a:effectLst>
                <a:latin typeface="Algerian" panose="04020705040A02060702" pitchFamily="82" charset="0"/>
              </a:rPr>
              <a:t>Intermediate level  query</a:t>
            </a:r>
            <a:br>
              <a:rPr lang="en-IN" dirty="0">
                <a:effectLst>
                  <a:glow rad="101600">
                    <a:schemeClr val="bg1">
                      <a:alpha val="60000"/>
                    </a:schemeClr>
                  </a:glow>
                </a:effectLst>
                <a:latin typeface="Algerian" panose="04020705040A02060702" pitchFamily="82" charset="0"/>
              </a:rPr>
            </a:br>
            <a:r>
              <a:rPr lang="en-IN" dirty="0">
                <a:effectLst>
                  <a:glow rad="101600">
                    <a:schemeClr val="bg1">
                      <a:alpha val="60000"/>
                    </a:schemeClr>
                  </a:glow>
                </a:effectLst>
                <a:latin typeface="Algerian" panose="04020705040A02060702" pitchFamily="82" charset="0"/>
              </a:rPr>
              <a:t> </a:t>
            </a:r>
            <a:br>
              <a:rPr lang="en-IN" dirty="0">
                <a:effectLst>
                  <a:glow rad="101600">
                    <a:schemeClr val="bg1">
                      <a:alpha val="60000"/>
                    </a:schemeClr>
                  </a:glow>
                </a:effectLst>
                <a:latin typeface="Algerian" panose="04020705040A02060702" pitchFamily="82" charset="0"/>
              </a:rPr>
            </a:br>
            <a:r>
              <a:rPr lang="en-US" sz="3100" dirty="0">
                <a:solidFill>
                  <a:schemeClr val="bg1"/>
                </a:solidFill>
                <a:latin typeface="Aptos Narrow" panose="020B0004020202020204" pitchFamily="34" charset="0"/>
              </a:rPr>
              <a:t>Show each artist and the number of paintings they created?</a:t>
            </a:r>
            <a:br>
              <a:rPr lang="en-US" dirty="0">
                <a:solidFill>
                  <a:schemeClr val="bg1"/>
                </a:solidFill>
                <a:latin typeface="Aptos Narrow" panose="020B0004020202020204" pitchFamily="34" charset="0"/>
              </a:rPr>
            </a:br>
            <a:endParaRPr lang="en-IN" dirty="0">
              <a:effectLst>
                <a:glow rad="101600">
                  <a:schemeClr val="bg1">
                    <a:alpha val="60000"/>
                  </a:schemeClr>
                </a:glow>
              </a:effectLst>
              <a:latin typeface="Aptos Narrow" panose="020B0004020202020204" pitchFamily="34" charset="0"/>
            </a:endParaRPr>
          </a:p>
        </p:txBody>
      </p:sp>
      <p:sp>
        <p:nvSpPr>
          <p:cNvPr id="3" name="Content Placeholder 2">
            <a:extLst>
              <a:ext uri="{FF2B5EF4-FFF2-40B4-BE49-F238E27FC236}">
                <a16:creationId xmlns:a16="http://schemas.microsoft.com/office/drawing/2014/main" id="{906DE554-88CE-ADF7-0971-A3A0825CD20B}"/>
              </a:ext>
            </a:extLst>
          </p:cNvPr>
          <p:cNvSpPr>
            <a:spLocks noGrp="1"/>
          </p:cNvSpPr>
          <p:nvPr>
            <p:ph idx="1"/>
          </p:nvPr>
        </p:nvSpPr>
        <p:spPr>
          <a:xfrm>
            <a:off x="0" y="3836504"/>
            <a:ext cx="12192000" cy="3021496"/>
          </a:xfrm>
        </p:spPr>
        <p:txBody>
          <a:bodyPr>
            <a:normAutofit/>
          </a:bodyPr>
          <a:lstStyle/>
          <a:p>
            <a:pPr marL="0" indent="0">
              <a:buNone/>
            </a:pPr>
            <a:r>
              <a:rPr lang="en-US" dirty="0">
                <a:solidFill>
                  <a:schemeClr val="bg1"/>
                </a:solidFill>
              </a:rPr>
              <a:t>Insight : - </a:t>
            </a:r>
          </a:p>
          <a:p>
            <a:r>
              <a:rPr lang="en-US" dirty="0">
                <a:solidFill>
                  <a:schemeClr val="bg1"/>
                </a:solidFill>
              </a:rPr>
              <a:t>This query helps you analyze artist productivity and contribution.</a:t>
            </a:r>
          </a:p>
          <a:p>
            <a:r>
              <a:rPr lang="en-US" dirty="0">
                <a:solidFill>
                  <a:schemeClr val="bg1"/>
                </a:solidFill>
              </a:rPr>
              <a:t>Through this query we can find the artist that created the most paintings.</a:t>
            </a:r>
          </a:p>
          <a:p>
            <a:r>
              <a:rPr lang="en-US" dirty="0">
                <a:solidFill>
                  <a:schemeClr val="bg1"/>
                </a:solidFill>
              </a:rPr>
              <a:t>By this query we can find the amount of painting created by each artist.</a:t>
            </a:r>
          </a:p>
          <a:p>
            <a:endParaRPr lang="en-IN" dirty="0">
              <a:solidFill>
                <a:schemeClr val="bg1"/>
              </a:solidFill>
            </a:endParaRPr>
          </a:p>
        </p:txBody>
      </p:sp>
      <p:pic>
        <p:nvPicPr>
          <p:cNvPr id="6" name="Picture 5">
            <a:extLst>
              <a:ext uri="{FF2B5EF4-FFF2-40B4-BE49-F238E27FC236}">
                <a16:creationId xmlns:a16="http://schemas.microsoft.com/office/drawing/2014/main" id="{B327D26E-F04B-9807-5A95-BA72A9AF6168}"/>
              </a:ext>
            </a:extLst>
          </p:cNvPr>
          <p:cNvPicPr>
            <a:picLocks noChangeAspect="1"/>
          </p:cNvPicPr>
          <p:nvPr/>
        </p:nvPicPr>
        <p:blipFill>
          <a:blip r:embed="rId3"/>
          <a:stretch>
            <a:fillRect/>
          </a:stretch>
        </p:blipFill>
        <p:spPr>
          <a:xfrm>
            <a:off x="2322200" y="2087218"/>
            <a:ext cx="6672713" cy="1540566"/>
          </a:xfrm>
          <a:prstGeom prst="rect">
            <a:avLst/>
          </a:prstGeom>
          <a:effectLst>
            <a:glow rad="101600">
              <a:schemeClr val="bg1">
                <a:alpha val="60000"/>
              </a:schemeClr>
            </a:glow>
            <a:softEdge rad="12700"/>
          </a:effectLst>
        </p:spPr>
      </p:pic>
    </p:spTree>
    <p:extLst>
      <p:ext uri="{BB962C8B-B14F-4D97-AF65-F5344CB8AC3E}">
        <p14:creationId xmlns:p14="http://schemas.microsoft.com/office/powerpoint/2010/main" val="4279221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4757FAB4-AEE9-D9E8-C7FA-CA79EE2CF7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94649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0BBBE93-3C40-D3A1-D3F3-48C4A128BDB0}"/>
              </a:ext>
            </a:extLst>
          </p:cNvPr>
          <p:cNvSpPr>
            <a:spLocks noGrp="1"/>
          </p:cNvSpPr>
          <p:nvPr>
            <p:ph type="title"/>
          </p:nvPr>
        </p:nvSpPr>
        <p:spPr>
          <a:xfrm>
            <a:off x="0" y="0"/>
            <a:ext cx="12191999" cy="1292087"/>
          </a:xfrm>
        </p:spPr>
        <p:txBody>
          <a:bodyPr>
            <a:normAutofit fontScale="90000"/>
          </a:bodyPr>
          <a:lstStyle/>
          <a:p>
            <a:r>
              <a:rPr lang="en-US" dirty="0">
                <a:solidFill>
                  <a:schemeClr val="bg1"/>
                </a:solidFill>
                <a:latin typeface="Arial Narrow" panose="020B0606020202030204" pitchFamily="34" charset="0"/>
              </a:rPr>
              <a:t> Show each artist id and full name along with the museum ID where their paintings are displayed?</a:t>
            </a:r>
            <a:endParaRPr lang="en-IN" dirty="0">
              <a:solidFill>
                <a:schemeClr val="bg1"/>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D3C97B0E-1168-09CE-FE3C-365E23E917AF}"/>
              </a:ext>
            </a:extLst>
          </p:cNvPr>
          <p:cNvSpPr>
            <a:spLocks noGrp="1"/>
          </p:cNvSpPr>
          <p:nvPr>
            <p:ph idx="1"/>
          </p:nvPr>
        </p:nvSpPr>
        <p:spPr>
          <a:xfrm>
            <a:off x="2941982" y="4412974"/>
            <a:ext cx="7354957" cy="2533516"/>
          </a:xfrm>
        </p:spPr>
        <p:txBody>
          <a:bodyPr/>
          <a:lstStyle/>
          <a:p>
            <a:pPr marL="0" indent="0">
              <a:buNone/>
            </a:pPr>
            <a:r>
              <a:rPr lang="en-US" dirty="0">
                <a:solidFill>
                  <a:schemeClr val="bg1"/>
                </a:solidFill>
              </a:rPr>
              <a:t>Insight : - </a:t>
            </a:r>
          </a:p>
          <a:p>
            <a:r>
              <a:rPr lang="en-US" dirty="0">
                <a:solidFill>
                  <a:schemeClr val="bg1"/>
                </a:solidFill>
              </a:rPr>
              <a:t>This query shows which painting is being displayed in which museum.</a:t>
            </a:r>
          </a:p>
          <a:p>
            <a:r>
              <a:rPr lang="en-US" dirty="0">
                <a:solidFill>
                  <a:schemeClr val="bg1"/>
                </a:solidFill>
              </a:rPr>
              <a:t>It gives us data about which painting is being displayed and which not.</a:t>
            </a:r>
            <a:endParaRPr lang="en-IN" dirty="0">
              <a:solidFill>
                <a:schemeClr val="bg1"/>
              </a:solidFill>
            </a:endParaRPr>
          </a:p>
        </p:txBody>
      </p:sp>
      <p:pic>
        <p:nvPicPr>
          <p:cNvPr id="6" name="Picture 5">
            <a:extLst>
              <a:ext uri="{FF2B5EF4-FFF2-40B4-BE49-F238E27FC236}">
                <a16:creationId xmlns:a16="http://schemas.microsoft.com/office/drawing/2014/main" id="{15F66052-DDB1-888A-58B3-97A3415B8481}"/>
              </a:ext>
            </a:extLst>
          </p:cNvPr>
          <p:cNvPicPr>
            <a:picLocks noChangeAspect="1"/>
          </p:cNvPicPr>
          <p:nvPr/>
        </p:nvPicPr>
        <p:blipFill>
          <a:blip r:embed="rId3"/>
          <a:stretch>
            <a:fillRect/>
          </a:stretch>
        </p:blipFill>
        <p:spPr>
          <a:xfrm>
            <a:off x="3021496" y="2097157"/>
            <a:ext cx="5834269" cy="1918252"/>
          </a:xfrm>
          <a:prstGeom prst="rect">
            <a:avLst/>
          </a:prstGeom>
          <a:effectLst>
            <a:glow rad="101600">
              <a:schemeClr val="bg1">
                <a:alpha val="60000"/>
              </a:schemeClr>
            </a:glow>
            <a:softEdge rad="12700"/>
          </a:effectLst>
        </p:spPr>
      </p:pic>
    </p:spTree>
    <p:extLst>
      <p:ext uri="{BB962C8B-B14F-4D97-AF65-F5344CB8AC3E}">
        <p14:creationId xmlns:p14="http://schemas.microsoft.com/office/powerpoint/2010/main" val="17179131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D568C6D1-ECA1-8A94-01C1-0DEF4D72BF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4245"/>
            <a:ext cx="12192000" cy="694649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8065566-72B8-1A5C-75BC-8B6D15160DE4}"/>
              </a:ext>
            </a:extLst>
          </p:cNvPr>
          <p:cNvSpPr>
            <a:spLocks noGrp="1"/>
          </p:cNvSpPr>
          <p:nvPr>
            <p:ph type="title"/>
          </p:nvPr>
        </p:nvSpPr>
        <p:spPr>
          <a:xfrm>
            <a:off x="-1" y="1"/>
            <a:ext cx="12192001" cy="1351721"/>
          </a:xfrm>
        </p:spPr>
        <p:txBody>
          <a:bodyPr/>
          <a:lstStyle/>
          <a:p>
            <a:r>
              <a:rPr lang="en-US" dirty="0">
                <a:solidFill>
                  <a:schemeClr val="bg1"/>
                </a:solidFill>
                <a:latin typeface="Arial Narrow" panose="020B0606020202030204" pitchFamily="34" charset="0"/>
              </a:rPr>
              <a:t>find ID, Price and name of the artist  who sold the most expensive painting ?</a:t>
            </a:r>
            <a:endParaRPr lang="en-IN" dirty="0">
              <a:solidFill>
                <a:schemeClr val="bg1"/>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C29512B2-D773-2DA5-B84D-8C3C1A464ED0}"/>
              </a:ext>
            </a:extLst>
          </p:cNvPr>
          <p:cNvSpPr>
            <a:spLocks noGrp="1"/>
          </p:cNvSpPr>
          <p:nvPr>
            <p:ph idx="1"/>
          </p:nvPr>
        </p:nvSpPr>
        <p:spPr>
          <a:xfrm>
            <a:off x="2663686" y="4283765"/>
            <a:ext cx="7812157" cy="2574234"/>
          </a:xfrm>
        </p:spPr>
        <p:txBody>
          <a:bodyPr>
            <a:normAutofit/>
          </a:bodyPr>
          <a:lstStyle/>
          <a:p>
            <a:pPr marL="0" indent="0">
              <a:buNone/>
            </a:pPr>
            <a:r>
              <a:rPr lang="en-US" sz="2400" dirty="0">
                <a:solidFill>
                  <a:schemeClr val="bg1"/>
                </a:solidFill>
              </a:rPr>
              <a:t>Insight : -</a:t>
            </a:r>
          </a:p>
          <a:p>
            <a:r>
              <a:rPr lang="en-IN" sz="2400" dirty="0">
                <a:solidFill>
                  <a:schemeClr val="bg1"/>
                </a:solidFill>
              </a:rPr>
              <a:t>Gerard Van Honthorst is the artist who sold the most amount of paintings.</a:t>
            </a:r>
          </a:p>
          <a:p>
            <a:r>
              <a:rPr lang="en-US" sz="2400" dirty="0">
                <a:solidFill>
                  <a:schemeClr val="bg1"/>
                </a:solidFill>
              </a:rPr>
              <a:t>This query helps us identify the artist who sold most value able art work in the whole database .</a:t>
            </a:r>
            <a:endParaRPr lang="en-IN" sz="2400" dirty="0">
              <a:solidFill>
                <a:schemeClr val="bg1"/>
              </a:solidFill>
            </a:endParaRPr>
          </a:p>
          <a:p>
            <a:pPr marL="0" indent="0">
              <a:buNone/>
            </a:pPr>
            <a:endParaRPr lang="en-IN" sz="2400" dirty="0">
              <a:solidFill>
                <a:schemeClr val="bg1"/>
              </a:solidFill>
            </a:endParaRPr>
          </a:p>
          <a:p>
            <a:endParaRPr lang="en-US" sz="2400" dirty="0">
              <a:solidFill>
                <a:schemeClr val="bg1"/>
              </a:solidFill>
            </a:endParaRPr>
          </a:p>
          <a:p>
            <a:endParaRPr lang="en-IN" sz="2400" dirty="0">
              <a:solidFill>
                <a:schemeClr val="bg1"/>
              </a:solidFill>
            </a:endParaRPr>
          </a:p>
        </p:txBody>
      </p:sp>
      <p:pic>
        <p:nvPicPr>
          <p:cNvPr id="7" name="Picture 6">
            <a:extLst>
              <a:ext uri="{FF2B5EF4-FFF2-40B4-BE49-F238E27FC236}">
                <a16:creationId xmlns:a16="http://schemas.microsoft.com/office/drawing/2014/main" id="{A7737B1A-33AE-746B-98AB-CEF07E381820}"/>
              </a:ext>
            </a:extLst>
          </p:cNvPr>
          <p:cNvPicPr>
            <a:picLocks noChangeAspect="1"/>
          </p:cNvPicPr>
          <p:nvPr/>
        </p:nvPicPr>
        <p:blipFill>
          <a:blip r:embed="rId3"/>
          <a:stretch>
            <a:fillRect/>
          </a:stretch>
        </p:blipFill>
        <p:spPr>
          <a:xfrm>
            <a:off x="2902226" y="1848677"/>
            <a:ext cx="6380922" cy="1938131"/>
          </a:xfrm>
          <a:prstGeom prst="rect">
            <a:avLst/>
          </a:prstGeom>
          <a:effectLst>
            <a:glow rad="101600">
              <a:schemeClr val="bg1">
                <a:alpha val="60000"/>
              </a:schemeClr>
            </a:glow>
            <a:softEdge rad="12700"/>
          </a:effectLst>
        </p:spPr>
      </p:pic>
    </p:spTree>
    <p:extLst>
      <p:ext uri="{BB962C8B-B14F-4D97-AF65-F5344CB8AC3E}">
        <p14:creationId xmlns:p14="http://schemas.microsoft.com/office/powerpoint/2010/main" val="15439246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1C50A281-92EE-AE2F-8A3D-47B6CA197D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4245"/>
            <a:ext cx="12192000" cy="694649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D44898A-8D7D-C4B1-B437-C524A338C8E3}"/>
              </a:ext>
            </a:extLst>
          </p:cNvPr>
          <p:cNvSpPr>
            <a:spLocks noGrp="1"/>
          </p:cNvSpPr>
          <p:nvPr>
            <p:ph type="title"/>
          </p:nvPr>
        </p:nvSpPr>
        <p:spPr>
          <a:xfrm>
            <a:off x="0" y="-44244"/>
            <a:ext cx="11353800" cy="1227002"/>
          </a:xfrm>
        </p:spPr>
        <p:txBody>
          <a:bodyPr/>
          <a:lstStyle/>
          <a:p>
            <a:r>
              <a:rPr lang="en-US" dirty="0">
                <a:solidFill>
                  <a:schemeClr val="bg1"/>
                </a:solidFill>
              </a:rPr>
              <a:t>Count how many paintings each nationality sold ?</a:t>
            </a:r>
            <a:endParaRPr lang="en-IN" dirty="0">
              <a:solidFill>
                <a:schemeClr val="bg1"/>
              </a:solidFill>
            </a:endParaRPr>
          </a:p>
        </p:txBody>
      </p:sp>
      <p:sp>
        <p:nvSpPr>
          <p:cNvPr id="3" name="Content Placeholder 2">
            <a:extLst>
              <a:ext uri="{FF2B5EF4-FFF2-40B4-BE49-F238E27FC236}">
                <a16:creationId xmlns:a16="http://schemas.microsoft.com/office/drawing/2014/main" id="{71A4943D-FFCF-948A-8128-8F687DFEC021}"/>
              </a:ext>
            </a:extLst>
          </p:cNvPr>
          <p:cNvSpPr>
            <a:spLocks noGrp="1"/>
          </p:cNvSpPr>
          <p:nvPr>
            <p:ph idx="1"/>
          </p:nvPr>
        </p:nvSpPr>
        <p:spPr>
          <a:xfrm>
            <a:off x="2355574" y="4462669"/>
            <a:ext cx="7364896" cy="2226365"/>
          </a:xfrm>
        </p:spPr>
        <p:txBody>
          <a:bodyPr/>
          <a:lstStyle/>
          <a:p>
            <a:pPr marL="0" indent="0">
              <a:buNone/>
            </a:pPr>
            <a:r>
              <a:rPr lang="en-US">
                <a:solidFill>
                  <a:schemeClr val="bg1"/>
                </a:solidFill>
              </a:rPr>
              <a:t>Insight : -</a:t>
            </a:r>
          </a:p>
          <a:p>
            <a:r>
              <a:rPr lang="en-US" sz="2400">
                <a:solidFill>
                  <a:schemeClr val="bg1"/>
                </a:solidFill>
              </a:rPr>
              <a:t>French has sold the most amount of painting.</a:t>
            </a:r>
          </a:p>
          <a:p>
            <a:r>
              <a:rPr lang="en-US" sz="2400">
                <a:solidFill>
                  <a:schemeClr val="bg1"/>
                </a:solidFill>
              </a:rPr>
              <a:t>This query shows how artists from different parts of the world have contributed to the art market.</a:t>
            </a:r>
            <a:endParaRPr lang="en-IN" sz="2400" dirty="0">
              <a:solidFill>
                <a:schemeClr val="bg1"/>
              </a:solidFill>
            </a:endParaRPr>
          </a:p>
        </p:txBody>
      </p:sp>
      <p:pic>
        <p:nvPicPr>
          <p:cNvPr id="8" name="Picture 7">
            <a:extLst>
              <a:ext uri="{FF2B5EF4-FFF2-40B4-BE49-F238E27FC236}">
                <a16:creationId xmlns:a16="http://schemas.microsoft.com/office/drawing/2014/main" id="{6AF4225E-0BBE-28EA-72B0-577F86A25BDD}"/>
              </a:ext>
            </a:extLst>
          </p:cNvPr>
          <p:cNvPicPr>
            <a:picLocks noChangeAspect="1"/>
          </p:cNvPicPr>
          <p:nvPr/>
        </p:nvPicPr>
        <p:blipFill>
          <a:blip r:embed="rId3"/>
          <a:stretch>
            <a:fillRect/>
          </a:stretch>
        </p:blipFill>
        <p:spPr>
          <a:xfrm>
            <a:off x="2862470" y="1729409"/>
            <a:ext cx="6549887" cy="2077278"/>
          </a:xfrm>
          <a:prstGeom prst="rect">
            <a:avLst/>
          </a:prstGeom>
          <a:effectLst>
            <a:glow rad="101600">
              <a:schemeClr val="bg1">
                <a:alpha val="60000"/>
              </a:schemeClr>
            </a:glow>
            <a:softEdge rad="12700"/>
          </a:effectLst>
        </p:spPr>
      </p:pic>
    </p:spTree>
    <p:extLst>
      <p:ext uri="{BB962C8B-B14F-4D97-AF65-F5344CB8AC3E}">
        <p14:creationId xmlns:p14="http://schemas.microsoft.com/office/powerpoint/2010/main" val="468217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CEBE7C7F-6444-624A-86CF-2CBD82CEA0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8490"/>
            <a:ext cx="12192000" cy="694649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6DD0559-2FB8-6201-EF20-89053261A105}"/>
              </a:ext>
            </a:extLst>
          </p:cNvPr>
          <p:cNvSpPr>
            <a:spLocks noGrp="1"/>
          </p:cNvSpPr>
          <p:nvPr>
            <p:ph type="title"/>
          </p:nvPr>
        </p:nvSpPr>
        <p:spPr>
          <a:xfrm>
            <a:off x="0" y="-228599"/>
            <a:ext cx="11353800" cy="1610138"/>
          </a:xfrm>
        </p:spPr>
        <p:txBody>
          <a:bodyPr>
            <a:normAutofit/>
          </a:bodyPr>
          <a:lstStyle/>
          <a:p>
            <a:r>
              <a:rPr lang="en-US" dirty="0">
                <a:effectLst>
                  <a:glow rad="101600">
                    <a:schemeClr val="bg1">
                      <a:alpha val="60000"/>
                    </a:schemeClr>
                  </a:glow>
                </a:effectLst>
                <a:latin typeface="Algerian" panose="04020705040A02060702" pitchFamily="82" charset="0"/>
              </a:rPr>
              <a:t>Advanced level queries</a:t>
            </a:r>
            <a:br>
              <a:rPr lang="en-US" dirty="0">
                <a:effectLst>
                  <a:glow rad="101600">
                    <a:schemeClr val="bg1">
                      <a:alpha val="60000"/>
                    </a:schemeClr>
                  </a:glow>
                </a:effectLst>
                <a:latin typeface="Algerian" panose="04020705040A02060702" pitchFamily="82" charset="0"/>
              </a:rPr>
            </a:br>
            <a:r>
              <a:rPr lang="en-US" sz="3100" dirty="0">
                <a:solidFill>
                  <a:schemeClr val="bg1"/>
                </a:solidFill>
                <a:effectLst/>
                <a:latin typeface="Arial Narrow" panose="020B0606020202030204" pitchFamily="34" charset="0"/>
              </a:rPr>
              <a:t>Find the top 3 most expensive paintings with artist and museum details?</a:t>
            </a:r>
            <a:endParaRPr lang="en-IN" dirty="0">
              <a:effectLst>
                <a:glow rad="101600">
                  <a:schemeClr val="bg1">
                    <a:alpha val="60000"/>
                  </a:schemeClr>
                </a:glow>
              </a:effectLst>
              <a:latin typeface="Algerian" panose="04020705040A02060702" pitchFamily="82" charset="0"/>
            </a:endParaRPr>
          </a:p>
        </p:txBody>
      </p:sp>
      <p:sp>
        <p:nvSpPr>
          <p:cNvPr id="3" name="Content Placeholder 2">
            <a:extLst>
              <a:ext uri="{FF2B5EF4-FFF2-40B4-BE49-F238E27FC236}">
                <a16:creationId xmlns:a16="http://schemas.microsoft.com/office/drawing/2014/main" id="{5690DC4C-AEAA-CD9C-6886-B6CE7F7782DD}"/>
              </a:ext>
            </a:extLst>
          </p:cNvPr>
          <p:cNvSpPr>
            <a:spLocks noGrp="1"/>
          </p:cNvSpPr>
          <p:nvPr>
            <p:ph idx="1"/>
          </p:nvPr>
        </p:nvSpPr>
        <p:spPr>
          <a:xfrm>
            <a:off x="2097156" y="4283765"/>
            <a:ext cx="7901609" cy="2574235"/>
          </a:xfrm>
        </p:spPr>
        <p:txBody>
          <a:bodyPr/>
          <a:lstStyle/>
          <a:p>
            <a:pPr marL="0" indent="0">
              <a:buNone/>
            </a:pPr>
            <a:r>
              <a:rPr lang="en-US" dirty="0">
                <a:solidFill>
                  <a:schemeClr val="bg1"/>
                </a:solidFill>
              </a:rPr>
              <a:t>Insight : - </a:t>
            </a:r>
          </a:p>
          <a:p>
            <a:r>
              <a:rPr lang="en-US" sz="2400" dirty="0">
                <a:solidFill>
                  <a:schemeClr val="bg1"/>
                </a:solidFill>
              </a:rPr>
              <a:t>This query helps in identifying the most value able painting and which museum holds that painting.</a:t>
            </a:r>
          </a:p>
          <a:p>
            <a:r>
              <a:rPr lang="en-US" sz="2400" dirty="0">
                <a:solidFill>
                  <a:schemeClr val="bg1"/>
                </a:solidFill>
              </a:rPr>
              <a:t>Its useful financial and exhibition analysis.</a:t>
            </a:r>
          </a:p>
          <a:p>
            <a:endParaRPr lang="en-US" sz="2400" dirty="0">
              <a:solidFill>
                <a:schemeClr val="bg1"/>
              </a:solidFill>
            </a:endParaRPr>
          </a:p>
          <a:p>
            <a:pPr marL="0" indent="0">
              <a:buNone/>
            </a:pPr>
            <a:endParaRPr lang="en-IN" dirty="0">
              <a:solidFill>
                <a:schemeClr val="bg1"/>
              </a:solidFill>
            </a:endParaRPr>
          </a:p>
        </p:txBody>
      </p:sp>
      <p:pic>
        <p:nvPicPr>
          <p:cNvPr id="9" name="Picture 8">
            <a:extLst>
              <a:ext uri="{FF2B5EF4-FFF2-40B4-BE49-F238E27FC236}">
                <a16:creationId xmlns:a16="http://schemas.microsoft.com/office/drawing/2014/main" id="{407091E7-1D9C-B860-3D4A-D86179C68256}"/>
              </a:ext>
            </a:extLst>
          </p:cNvPr>
          <p:cNvPicPr>
            <a:picLocks noChangeAspect="1"/>
          </p:cNvPicPr>
          <p:nvPr/>
        </p:nvPicPr>
        <p:blipFill>
          <a:blip r:embed="rId3"/>
          <a:stretch>
            <a:fillRect/>
          </a:stretch>
        </p:blipFill>
        <p:spPr>
          <a:xfrm>
            <a:off x="2576512" y="1956352"/>
            <a:ext cx="7038975" cy="1752600"/>
          </a:xfrm>
          <a:prstGeom prst="rect">
            <a:avLst/>
          </a:prstGeom>
          <a:effectLst>
            <a:glow rad="101600">
              <a:schemeClr val="bg1">
                <a:alpha val="60000"/>
              </a:schemeClr>
            </a:glow>
            <a:softEdge rad="12700"/>
          </a:effectLst>
        </p:spPr>
      </p:pic>
    </p:spTree>
    <p:extLst>
      <p:ext uri="{BB962C8B-B14F-4D97-AF65-F5344CB8AC3E}">
        <p14:creationId xmlns:p14="http://schemas.microsoft.com/office/powerpoint/2010/main" val="24764819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28DE8DB1-74DA-CA81-B530-6B849FE3DB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8490"/>
            <a:ext cx="12192000" cy="694649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7D12DD0-80BA-49D1-E9A2-678A9CB16C22}"/>
              </a:ext>
            </a:extLst>
          </p:cNvPr>
          <p:cNvSpPr>
            <a:spLocks noGrp="1"/>
          </p:cNvSpPr>
          <p:nvPr>
            <p:ph type="title"/>
          </p:nvPr>
        </p:nvSpPr>
        <p:spPr>
          <a:xfrm>
            <a:off x="-1" y="-88489"/>
            <a:ext cx="12191999" cy="1387353"/>
          </a:xfrm>
        </p:spPr>
        <p:txBody>
          <a:bodyPr/>
          <a:lstStyle/>
          <a:p>
            <a:r>
              <a:rPr lang="en-US" dirty="0">
                <a:solidFill>
                  <a:schemeClr val="bg1"/>
                </a:solidFill>
                <a:latin typeface="Arial Narrow" panose="020B0606020202030204" pitchFamily="34" charset="0"/>
              </a:rPr>
              <a:t>Rank all artists by the total value of their paintings?</a:t>
            </a:r>
            <a:endParaRPr lang="en-IN" dirty="0">
              <a:solidFill>
                <a:schemeClr val="bg1"/>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330B6EB4-F334-D937-68F4-3059A23E5F75}"/>
              </a:ext>
            </a:extLst>
          </p:cNvPr>
          <p:cNvSpPr>
            <a:spLocks noGrp="1"/>
          </p:cNvSpPr>
          <p:nvPr>
            <p:ph idx="1"/>
          </p:nvPr>
        </p:nvSpPr>
        <p:spPr>
          <a:xfrm>
            <a:off x="2369128" y="4494502"/>
            <a:ext cx="7897090" cy="2363498"/>
          </a:xfrm>
        </p:spPr>
        <p:txBody>
          <a:bodyPr>
            <a:normAutofit/>
          </a:bodyPr>
          <a:lstStyle/>
          <a:p>
            <a:pPr marL="0" indent="0">
              <a:buNone/>
            </a:pPr>
            <a:r>
              <a:rPr lang="en-US" dirty="0">
                <a:solidFill>
                  <a:schemeClr val="bg1"/>
                </a:solidFill>
              </a:rPr>
              <a:t>Insight : -</a:t>
            </a:r>
          </a:p>
          <a:p>
            <a:r>
              <a:rPr lang="en-US" sz="2400" dirty="0">
                <a:solidFill>
                  <a:schemeClr val="bg1"/>
                </a:solidFill>
              </a:rPr>
              <a:t>It shows the market worth of an artist, not just a single piece.</a:t>
            </a:r>
          </a:p>
          <a:p>
            <a:r>
              <a:rPr lang="en-US" sz="2400" dirty="0">
                <a:solidFill>
                  <a:schemeClr val="bg1"/>
                </a:solidFill>
              </a:rPr>
              <a:t>Shows the use of aggregate function (sum) and window function(rank</a:t>
            </a:r>
            <a:r>
              <a:rPr lang="en-US" dirty="0">
                <a:solidFill>
                  <a:schemeClr val="bg1"/>
                </a:solidFill>
              </a:rPr>
              <a:t>).</a:t>
            </a:r>
          </a:p>
        </p:txBody>
      </p:sp>
      <p:pic>
        <p:nvPicPr>
          <p:cNvPr id="6" name="Picture 5">
            <a:extLst>
              <a:ext uri="{FF2B5EF4-FFF2-40B4-BE49-F238E27FC236}">
                <a16:creationId xmlns:a16="http://schemas.microsoft.com/office/drawing/2014/main" id="{0441706C-95A3-FBDC-EEE3-8DD434F1939F}"/>
              </a:ext>
            </a:extLst>
          </p:cNvPr>
          <p:cNvPicPr>
            <a:picLocks noChangeAspect="1"/>
          </p:cNvPicPr>
          <p:nvPr/>
        </p:nvPicPr>
        <p:blipFill>
          <a:blip r:embed="rId3"/>
          <a:stretch>
            <a:fillRect/>
          </a:stretch>
        </p:blipFill>
        <p:spPr>
          <a:xfrm>
            <a:off x="2712027" y="1537855"/>
            <a:ext cx="6951518" cy="2244436"/>
          </a:xfrm>
          <a:prstGeom prst="rect">
            <a:avLst/>
          </a:prstGeom>
          <a:effectLst>
            <a:glow rad="101600">
              <a:schemeClr val="bg1">
                <a:alpha val="60000"/>
              </a:schemeClr>
            </a:glow>
            <a:softEdge rad="12700"/>
          </a:effectLst>
        </p:spPr>
      </p:pic>
    </p:spTree>
    <p:extLst>
      <p:ext uri="{BB962C8B-B14F-4D97-AF65-F5344CB8AC3E}">
        <p14:creationId xmlns:p14="http://schemas.microsoft.com/office/powerpoint/2010/main" val="34697147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2C43D4D6-7E7B-1089-8A5F-2DCC9C3274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69" y="-44245"/>
            <a:ext cx="12192000" cy="694649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90D1688-CB5A-F353-8969-46810D6A9BD6}"/>
              </a:ext>
            </a:extLst>
          </p:cNvPr>
          <p:cNvSpPr>
            <a:spLocks noGrp="1"/>
          </p:cNvSpPr>
          <p:nvPr>
            <p:ph type="title"/>
          </p:nvPr>
        </p:nvSpPr>
        <p:spPr>
          <a:xfrm>
            <a:off x="-1" y="1"/>
            <a:ext cx="11523519" cy="1402772"/>
          </a:xfrm>
        </p:spPr>
        <p:txBody>
          <a:bodyPr>
            <a:normAutofit/>
          </a:bodyPr>
          <a:lstStyle/>
          <a:p>
            <a:r>
              <a:rPr lang="en-US" sz="4000" dirty="0">
                <a:solidFill>
                  <a:schemeClr val="bg1"/>
                </a:solidFill>
                <a:latin typeface="Arial Narrow" panose="020B0606020202030204" pitchFamily="34" charset="0"/>
              </a:rPr>
              <a:t>Find the museum with the highest total painting value?</a:t>
            </a:r>
            <a:endParaRPr lang="en-IN" sz="4000" dirty="0">
              <a:solidFill>
                <a:schemeClr val="bg1"/>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6863304D-C61D-61EE-C7C6-0BE01A7078AD}"/>
              </a:ext>
            </a:extLst>
          </p:cNvPr>
          <p:cNvSpPr>
            <a:spLocks noGrp="1"/>
          </p:cNvSpPr>
          <p:nvPr>
            <p:ph idx="1"/>
          </p:nvPr>
        </p:nvSpPr>
        <p:spPr>
          <a:xfrm>
            <a:off x="1974272" y="4099645"/>
            <a:ext cx="8094519" cy="2747963"/>
          </a:xfrm>
        </p:spPr>
        <p:txBody>
          <a:bodyPr/>
          <a:lstStyle/>
          <a:p>
            <a:pPr marL="0" indent="0">
              <a:buNone/>
            </a:pPr>
            <a:r>
              <a:rPr lang="en-US" dirty="0">
                <a:solidFill>
                  <a:schemeClr val="bg1"/>
                </a:solidFill>
              </a:rPr>
              <a:t>Insight : - </a:t>
            </a:r>
          </a:p>
          <a:p>
            <a:r>
              <a:rPr lang="en-US" dirty="0">
                <a:solidFill>
                  <a:schemeClr val="bg1"/>
                </a:solidFill>
              </a:rPr>
              <a:t>Identifies which museum hold the most value able art collection.</a:t>
            </a:r>
          </a:p>
          <a:p>
            <a:r>
              <a:rPr lang="en-IN" dirty="0">
                <a:solidFill>
                  <a:schemeClr val="bg1"/>
                </a:solidFill>
              </a:rPr>
              <a:t>Useful for comparing museum prestige and investment value.</a:t>
            </a:r>
          </a:p>
        </p:txBody>
      </p:sp>
      <p:pic>
        <p:nvPicPr>
          <p:cNvPr id="6" name="Picture 5">
            <a:extLst>
              <a:ext uri="{FF2B5EF4-FFF2-40B4-BE49-F238E27FC236}">
                <a16:creationId xmlns:a16="http://schemas.microsoft.com/office/drawing/2014/main" id="{3067FCE9-F8E8-A015-BE7B-1A175BA02AA2}"/>
              </a:ext>
            </a:extLst>
          </p:cNvPr>
          <p:cNvPicPr>
            <a:picLocks noChangeAspect="1"/>
          </p:cNvPicPr>
          <p:nvPr/>
        </p:nvPicPr>
        <p:blipFill>
          <a:blip r:embed="rId3"/>
          <a:stretch>
            <a:fillRect/>
          </a:stretch>
        </p:blipFill>
        <p:spPr>
          <a:xfrm>
            <a:off x="3790950" y="1567295"/>
            <a:ext cx="4610100" cy="2019300"/>
          </a:xfrm>
          <a:prstGeom prst="rect">
            <a:avLst/>
          </a:prstGeom>
          <a:effectLst>
            <a:glow rad="101600">
              <a:schemeClr val="bg1">
                <a:alpha val="60000"/>
              </a:schemeClr>
            </a:glow>
            <a:softEdge rad="12700"/>
          </a:effectLst>
        </p:spPr>
      </p:pic>
    </p:spTree>
    <p:extLst>
      <p:ext uri="{BB962C8B-B14F-4D97-AF65-F5344CB8AC3E}">
        <p14:creationId xmlns:p14="http://schemas.microsoft.com/office/powerpoint/2010/main" val="36359849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46A36A68-325C-4B32-FC75-CFC73C7C5D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69" y="-44245"/>
            <a:ext cx="12192000" cy="694649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579003F-5981-FC3A-AC1C-7D0DBD1FF7C9}"/>
              </a:ext>
            </a:extLst>
          </p:cNvPr>
          <p:cNvSpPr>
            <a:spLocks noGrp="1"/>
          </p:cNvSpPr>
          <p:nvPr>
            <p:ph type="title"/>
          </p:nvPr>
        </p:nvSpPr>
        <p:spPr>
          <a:xfrm>
            <a:off x="0" y="-44244"/>
            <a:ext cx="10837718" cy="1426236"/>
          </a:xfrm>
        </p:spPr>
        <p:txBody>
          <a:bodyPr/>
          <a:lstStyle/>
          <a:p>
            <a:r>
              <a:rPr lang="en-US" dirty="0">
                <a:solidFill>
                  <a:schemeClr val="bg1"/>
                </a:solidFill>
                <a:latin typeface="Arial Narrow" panose="020B0606020202030204" pitchFamily="34" charset="0"/>
              </a:rPr>
              <a:t>List top 5 artists by average painting price?</a:t>
            </a:r>
            <a:endParaRPr lang="en-IN" dirty="0">
              <a:solidFill>
                <a:schemeClr val="bg1"/>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4F2417EA-6305-C94F-05C8-8999C7264389}"/>
              </a:ext>
            </a:extLst>
          </p:cNvPr>
          <p:cNvSpPr>
            <a:spLocks noGrp="1"/>
          </p:cNvSpPr>
          <p:nvPr>
            <p:ph idx="1"/>
          </p:nvPr>
        </p:nvSpPr>
        <p:spPr>
          <a:xfrm>
            <a:off x="2098964" y="4660755"/>
            <a:ext cx="8666018" cy="2197245"/>
          </a:xfrm>
        </p:spPr>
        <p:txBody>
          <a:bodyPr>
            <a:normAutofit lnSpcReduction="10000"/>
          </a:bodyPr>
          <a:lstStyle/>
          <a:p>
            <a:pPr marL="0" indent="0">
              <a:buNone/>
            </a:pPr>
            <a:r>
              <a:rPr lang="en-US" dirty="0">
                <a:solidFill>
                  <a:schemeClr val="bg1"/>
                </a:solidFill>
              </a:rPr>
              <a:t>Insight : - </a:t>
            </a:r>
          </a:p>
          <a:p>
            <a:r>
              <a:rPr lang="en-US" dirty="0">
                <a:solidFill>
                  <a:schemeClr val="bg1"/>
                </a:solidFill>
              </a:rPr>
              <a:t>Highlights artists whose works consistently sell for higher-than-average prices, not just one-time peaks.</a:t>
            </a:r>
          </a:p>
          <a:p>
            <a:r>
              <a:rPr lang="en-US" dirty="0">
                <a:solidFill>
                  <a:schemeClr val="bg1"/>
                </a:solidFill>
              </a:rPr>
              <a:t>Useful for evaluating artistic value and market demand across the dataset.</a:t>
            </a:r>
            <a:endParaRPr lang="en-IN" dirty="0">
              <a:solidFill>
                <a:schemeClr val="bg1"/>
              </a:solidFill>
            </a:endParaRPr>
          </a:p>
        </p:txBody>
      </p:sp>
      <p:pic>
        <p:nvPicPr>
          <p:cNvPr id="6" name="Picture 5">
            <a:extLst>
              <a:ext uri="{FF2B5EF4-FFF2-40B4-BE49-F238E27FC236}">
                <a16:creationId xmlns:a16="http://schemas.microsoft.com/office/drawing/2014/main" id="{023901C2-19D2-EFFD-1D24-EC89127447AD}"/>
              </a:ext>
            </a:extLst>
          </p:cNvPr>
          <p:cNvPicPr>
            <a:picLocks noChangeAspect="1"/>
          </p:cNvPicPr>
          <p:nvPr/>
        </p:nvPicPr>
        <p:blipFill>
          <a:blip r:embed="rId3"/>
          <a:stretch>
            <a:fillRect/>
          </a:stretch>
        </p:blipFill>
        <p:spPr>
          <a:xfrm>
            <a:off x="3790950" y="2011723"/>
            <a:ext cx="4610100" cy="2019300"/>
          </a:xfrm>
          <a:prstGeom prst="rect">
            <a:avLst/>
          </a:prstGeom>
          <a:effectLst>
            <a:glow rad="101600">
              <a:schemeClr val="bg1">
                <a:alpha val="60000"/>
              </a:schemeClr>
            </a:glow>
            <a:softEdge rad="12700"/>
          </a:effectLst>
        </p:spPr>
      </p:pic>
    </p:spTree>
    <p:extLst>
      <p:ext uri="{BB962C8B-B14F-4D97-AF65-F5344CB8AC3E}">
        <p14:creationId xmlns:p14="http://schemas.microsoft.com/office/powerpoint/2010/main" val="3869252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egant black background vector illustration with vintage distressed grunge  texture and dark gray charcoal color paint | Premium Vector">
            <a:extLst>
              <a:ext uri="{FF2B5EF4-FFF2-40B4-BE49-F238E27FC236}">
                <a16:creationId xmlns:a16="http://schemas.microsoft.com/office/drawing/2014/main" id="{DC190664-55C8-85D8-34D0-E6BC1368BB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69" y="-44245"/>
            <a:ext cx="12192000" cy="694649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CE53C1C-0543-C1B4-0962-AB56A76C3D94}"/>
              </a:ext>
            </a:extLst>
          </p:cNvPr>
          <p:cNvSpPr>
            <a:spLocks noGrp="1"/>
          </p:cNvSpPr>
          <p:nvPr>
            <p:ph type="title"/>
          </p:nvPr>
        </p:nvSpPr>
        <p:spPr>
          <a:xfrm>
            <a:off x="1" y="0"/>
            <a:ext cx="6005944" cy="1236518"/>
          </a:xfrm>
        </p:spPr>
        <p:txBody>
          <a:bodyPr/>
          <a:lstStyle/>
          <a:p>
            <a:r>
              <a:rPr lang="en-US" i="1" dirty="0">
                <a:effectLst>
                  <a:glow rad="101600">
                    <a:schemeClr val="bg1">
                      <a:alpha val="60000"/>
                    </a:schemeClr>
                  </a:glow>
                </a:effectLst>
                <a:latin typeface="Algerian" panose="04020705040A02060702" pitchFamily="82" charset="0"/>
              </a:rPr>
              <a:t>Result and insight</a:t>
            </a:r>
            <a:endParaRPr lang="en-IN" i="1" dirty="0">
              <a:effectLst>
                <a:glow rad="101600">
                  <a:schemeClr val="bg1">
                    <a:alpha val="60000"/>
                  </a:schemeClr>
                </a:glow>
              </a:effectLst>
              <a:latin typeface="Algerian" panose="04020705040A02060702" pitchFamily="82" charset="0"/>
            </a:endParaRPr>
          </a:p>
        </p:txBody>
      </p:sp>
      <p:pic>
        <p:nvPicPr>
          <p:cNvPr id="10" name="Picture 9">
            <a:extLst>
              <a:ext uri="{FF2B5EF4-FFF2-40B4-BE49-F238E27FC236}">
                <a16:creationId xmlns:a16="http://schemas.microsoft.com/office/drawing/2014/main" id="{62CF4B74-B543-B9DA-CCC2-CCEF834E8057}"/>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a:off x="5724525" y="0"/>
            <a:ext cx="6467475" cy="6467475"/>
          </a:xfrm>
          <a:prstGeom prst="rect">
            <a:avLst/>
          </a:prstGeom>
          <a:effectLst>
            <a:softEdge rad="635000"/>
          </a:effectLst>
        </p:spPr>
      </p:pic>
      <p:sp>
        <p:nvSpPr>
          <p:cNvPr id="5" name="Rectangle 1">
            <a:extLst>
              <a:ext uri="{FF2B5EF4-FFF2-40B4-BE49-F238E27FC236}">
                <a16:creationId xmlns:a16="http://schemas.microsoft.com/office/drawing/2014/main" id="{32EEA86A-E2F9-758A-6058-A12EE3029003}"/>
              </a:ext>
            </a:extLst>
          </p:cNvPr>
          <p:cNvSpPr>
            <a:spLocks noGrp="1" noChangeArrowheads="1"/>
          </p:cNvSpPr>
          <p:nvPr>
            <p:ph idx="1"/>
          </p:nvPr>
        </p:nvSpPr>
        <p:spPr bwMode="auto">
          <a:xfrm>
            <a:off x="0" y="982176"/>
            <a:ext cx="121920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bg1"/>
                </a:solidFill>
                <a:effectLst/>
                <a:latin typeface="Arial" panose="020B0604020202020204" pitchFamily="34" charset="0"/>
              </a:rPr>
              <a:t>The project revealed a diverse range of artists and nationalities, showing the global nature of art.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bg1"/>
                </a:solidFill>
                <a:effectLst/>
                <a:latin typeface="Arial" panose="020B0604020202020204" pitchFamily="34" charset="0"/>
              </a:rPr>
              <a:t>Art styles varied widely, highlighting historical evolution and cultural influence.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bg1"/>
                </a:solidFill>
                <a:effectLst/>
                <a:latin typeface="Arial" panose="020B0604020202020204" pitchFamily="34" charset="0"/>
              </a:rPr>
              <a:t>Some artists produced significantly more paintings, showing their prominence and contribution.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bg1"/>
                </a:solidFill>
                <a:effectLst/>
                <a:latin typeface="Arial" panose="020B0604020202020204" pitchFamily="34" charset="0"/>
              </a:rPr>
              <a:t>The most expensive paintings and artists were identified, reflecting art market trends and value.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bg1"/>
                </a:solidFill>
                <a:effectLst/>
                <a:latin typeface="Arial" panose="020B0604020202020204" pitchFamily="34" charset="0"/>
              </a:rPr>
              <a:t>Museums with the highest total painting worth stand out as major cultural and financial hubs.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bg1"/>
                </a:solidFill>
                <a:effectLst/>
                <a:latin typeface="Arial" panose="020B0604020202020204" pitchFamily="34" charset="0"/>
              </a:rPr>
              <a:t>Using SQL functions like JOIN, GROUP BY, HAVING, and RANK helped uncover deep insights from raw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bg1"/>
                </a:solidFill>
                <a:effectLst/>
                <a:latin typeface="Arial" panose="020B0604020202020204" pitchFamily="34" charset="0"/>
              </a:rPr>
              <a:t>Overall, the project showed how data analysis can bring structure, meaning, and value to artistic information.</a:t>
            </a:r>
          </a:p>
        </p:txBody>
      </p:sp>
    </p:spTree>
    <p:extLst>
      <p:ext uri="{BB962C8B-B14F-4D97-AF65-F5344CB8AC3E}">
        <p14:creationId xmlns:p14="http://schemas.microsoft.com/office/powerpoint/2010/main" val="1285651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fade">
                                      <p:cBhvr>
                                        <p:cTn id="22" dur="500"/>
                                        <p:tgtEl>
                                          <p:spTgt spid="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fade">
                                      <p:cBhvr>
                                        <p:cTn id="27" dur="500"/>
                                        <p:tgtEl>
                                          <p:spTgt spid="5">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Effect transition="in" filter="fade">
                                      <p:cBhvr>
                                        <p:cTn id="32" dur="500"/>
                                        <p:tgtEl>
                                          <p:spTgt spid="5">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Effect transition="in" filter="fade">
                                      <p:cBhvr>
                                        <p:cTn id="37" dur="500"/>
                                        <p:tgtEl>
                                          <p:spTgt spid="5">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5" end="5"/>
                                            </p:txEl>
                                          </p:spTgt>
                                        </p:tgtEl>
                                        <p:attrNameLst>
                                          <p:attrName>style.visibility</p:attrName>
                                        </p:attrNameLst>
                                      </p:cBhvr>
                                      <p:to>
                                        <p:strVal val="visible"/>
                                      </p:to>
                                    </p:set>
                                    <p:animEffect transition="in" filter="fade">
                                      <p:cBhvr>
                                        <p:cTn id="42" dur="500"/>
                                        <p:tgtEl>
                                          <p:spTgt spid="5">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xEl>
                                              <p:pRg st="6" end="6"/>
                                            </p:txEl>
                                          </p:spTgt>
                                        </p:tgtEl>
                                        <p:attrNameLst>
                                          <p:attrName>style.visibility</p:attrName>
                                        </p:attrNameLst>
                                      </p:cBhvr>
                                      <p:to>
                                        <p:strVal val="visible"/>
                                      </p:to>
                                    </p:set>
                                    <p:animEffect transition="in" filter="fade">
                                      <p:cBhvr>
                                        <p:cTn id="47" dur="500"/>
                                        <p:tgtEl>
                                          <p:spTgt spid="5">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A dark grey and white sky">
            <a:extLst>
              <a:ext uri="{FF2B5EF4-FFF2-40B4-BE49-F238E27FC236}">
                <a16:creationId xmlns:a16="http://schemas.microsoft.com/office/drawing/2014/main" id="{82D5367E-E9C0-8364-D2FA-D0C1E46FF88D}"/>
              </a:ext>
              <a:ext uri="{C183D7F6-B498-43B3-948B-1728B52AA6E4}">
                <adec:decorative xmlns:adec="http://schemas.microsoft.com/office/drawing/2017/decorative" val="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69" y="0"/>
            <a:ext cx="12192000" cy="694649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B3B9953-0DC8-3793-654D-19E0F2BBD68D}"/>
              </a:ext>
            </a:extLst>
          </p:cNvPr>
          <p:cNvSpPr>
            <a:spLocks noGrp="1"/>
          </p:cNvSpPr>
          <p:nvPr>
            <p:ph type="title"/>
          </p:nvPr>
        </p:nvSpPr>
        <p:spPr>
          <a:xfrm>
            <a:off x="0" y="18255"/>
            <a:ext cx="3667991" cy="1037843"/>
          </a:xfrm>
        </p:spPr>
        <p:txBody>
          <a:bodyPr/>
          <a:lstStyle/>
          <a:p>
            <a:r>
              <a:rPr lang="en-US" dirty="0">
                <a:effectLst>
                  <a:glow rad="101600">
                    <a:schemeClr val="bg1">
                      <a:alpha val="60000"/>
                    </a:schemeClr>
                  </a:glow>
                </a:effectLst>
                <a:latin typeface="Algerian" panose="04020705040A02060702" pitchFamily="82" charset="0"/>
              </a:rPr>
              <a:t>Conclusion</a:t>
            </a:r>
            <a:endParaRPr lang="en-IN" dirty="0">
              <a:effectLst>
                <a:glow rad="101600">
                  <a:schemeClr val="bg1">
                    <a:alpha val="60000"/>
                  </a:schemeClr>
                </a:glow>
              </a:effectLst>
              <a:latin typeface="Algerian" panose="04020705040A02060702" pitchFamily="82" charset="0"/>
            </a:endParaRPr>
          </a:p>
        </p:txBody>
      </p:sp>
      <p:pic>
        <p:nvPicPr>
          <p:cNvPr id="6156" name="Picture 12" descr="Amazon.com: Into The Dark Waters, Original Dark Academia Painting, Witchy  Room Decor, Moody Victorian Wall Art, Dark Art Vintage Oil Painting, Woman  Lake Canvas, Hand Painted Woman Portrait by College Teachers 6:">
            <a:extLst>
              <a:ext uri="{FF2B5EF4-FFF2-40B4-BE49-F238E27FC236}">
                <a16:creationId xmlns:a16="http://schemas.microsoft.com/office/drawing/2014/main" id="{357311E6-D58C-60B8-C8F1-0F46B02CFD25}"/>
              </a:ext>
            </a:extLst>
          </p:cNvPr>
          <p:cNvPicPr>
            <a:picLocks noChangeAspect="1" noChangeArrowheads="1"/>
          </p:cNvPicPr>
          <p:nvPr/>
        </p:nvPicPr>
        <p:blipFill>
          <a:blip r:embed="rId3">
            <a:alphaModFix amt="70000"/>
            <a:extLst>
              <a:ext uri="{28A0092B-C50C-407E-A947-70E740481C1C}">
                <a14:useLocalDpi xmlns:a14="http://schemas.microsoft.com/office/drawing/2010/main" val="0"/>
              </a:ext>
            </a:extLst>
          </a:blip>
          <a:srcRect/>
          <a:stretch>
            <a:fillRect/>
          </a:stretch>
        </p:blipFill>
        <p:spPr bwMode="auto">
          <a:xfrm>
            <a:off x="7885113" y="18255"/>
            <a:ext cx="4306887" cy="6858000"/>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1387770-34B6-E5EE-4A1C-11C1714D3E17}"/>
              </a:ext>
            </a:extLst>
          </p:cNvPr>
          <p:cNvSpPr>
            <a:spLocks noGrp="1"/>
          </p:cNvSpPr>
          <p:nvPr>
            <p:ph idx="1"/>
          </p:nvPr>
        </p:nvSpPr>
        <p:spPr>
          <a:xfrm>
            <a:off x="0" y="841664"/>
            <a:ext cx="8915400" cy="5998081"/>
          </a:xfrm>
        </p:spPr>
        <p:txBody>
          <a:bodyPr/>
          <a:lstStyle/>
          <a:p>
            <a:r>
              <a:rPr lang="en-US" dirty="0">
                <a:solidFill>
                  <a:schemeClr val="bg1"/>
                </a:solidFill>
              </a:rPr>
              <a:t>This project shows how SQL can be used to interpret data effectively .</a:t>
            </a:r>
          </a:p>
          <a:p>
            <a:r>
              <a:rPr lang="en-US" dirty="0">
                <a:solidFill>
                  <a:schemeClr val="bg1"/>
                </a:solidFill>
              </a:rPr>
              <a:t>By exploring details about artists, paintings, museums, and art styles, we uncovered meaningful patterns about creativity, diversity, and value.</a:t>
            </a:r>
          </a:p>
          <a:p>
            <a:r>
              <a:rPr lang="en-US" dirty="0">
                <a:solidFill>
                  <a:schemeClr val="bg1"/>
                </a:solidFill>
              </a:rPr>
              <a:t>The queries ranged from basic to advanced, showcasing the use of aggregation, joins, subqueries, and ranking for deeper insights.</a:t>
            </a:r>
          </a:p>
          <a:p>
            <a:r>
              <a:rPr lang="en-US" dirty="0">
                <a:solidFill>
                  <a:schemeClr val="bg1"/>
                </a:solidFill>
              </a:rPr>
              <a:t>Through this analysis, we identified the most valuable artworks, top artists, and prestigious museums, linking artistic expression with data-driven understanding.</a:t>
            </a:r>
          </a:p>
          <a:p>
            <a:r>
              <a:rPr lang="en-US" dirty="0">
                <a:solidFill>
                  <a:schemeClr val="bg1"/>
                </a:solidFill>
              </a:rPr>
              <a:t>Overall, the project highlights how data analytics and art can intersect, proving that structured databases can bring clarity and knowledge even to creative fields like painting.</a:t>
            </a:r>
            <a:endParaRPr lang="en-IN" dirty="0">
              <a:solidFill>
                <a:schemeClr val="bg1"/>
              </a:solidFill>
            </a:endParaRPr>
          </a:p>
        </p:txBody>
      </p:sp>
    </p:spTree>
    <p:extLst>
      <p:ext uri="{BB962C8B-B14F-4D97-AF65-F5344CB8AC3E}">
        <p14:creationId xmlns:p14="http://schemas.microsoft.com/office/powerpoint/2010/main" val="40550197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156"/>
                                        </p:tgtEl>
                                        <p:attrNameLst>
                                          <p:attrName>style.visibility</p:attrName>
                                        </p:attrNameLst>
                                      </p:cBhvr>
                                      <p:to>
                                        <p:strVal val="visible"/>
                                      </p:to>
                                    </p:set>
                                    <p:animEffect transition="in" filter="fade">
                                      <p:cBhvr>
                                        <p:cTn id="42" dur="500"/>
                                        <p:tgtEl>
                                          <p:spTgt spid="6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414</TotalTime>
  <Words>1190</Words>
  <Application>Microsoft Office PowerPoint</Application>
  <PresentationFormat>Widescreen</PresentationFormat>
  <Paragraphs>126</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Algerian</vt:lpstr>
      <vt:lpstr>Aptos Display</vt:lpstr>
      <vt:lpstr>Aptos Narrow</vt:lpstr>
      <vt:lpstr>Arial</vt:lpstr>
      <vt:lpstr>Arial Narrow</vt:lpstr>
      <vt:lpstr>Calibri</vt:lpstr>
      <vt:lpstr>Calibri Light</vt:lpstr>
      <vt:lpstr>Office Theme</vt:lpstr>
      <vt:lpstr>--------------------------------- SQL PAINTING PROJECT --------------------------------- </vt:lpstr>
      <vt:lpstr>INDEX  </vt:lpstr>
      <vt:lpstr>INTRODUCTION </vt:lpstr>
      <vt:lpstr>SUMMARY   </vt:lpstr>
      <vt:lpstr>DATABASE STRUCTURE</vt:lpstr>
      <vt:lpstr>Basic SQL Queries </vt:lpstr>
      <vt:lpstr>How many arts are there?</vt:lpstr>
      <vt:lpstr>How many different nationality and how many artist from there?</vt:lpstr>
      <vt:lpstr>how many different type of art style?</vt:lpstr>
      <vt:lpstr>How many artist were born and died in 1800-1900?</vt:lpstr>
      <vt:lpstr>Intermediate level  query   Show each artist and the number of paintings they created? </vt:lpstr>
      <vt:lpstr> Show each artist id and full name along with the museum ID where their paintings are displayed?</vt:lpstr>
      <vt:lpstr>find ID, Price and name of the artist  who sold the most expensive painting ?</vt:lpstr>
      <vt:lpstr>Count how many paintings each nationality sold ?</vt:lpstr>
      <vt:lpstr>Advanced level queries Find the top 3 most expensive paintings with artist and museum details?</vt:lpstr>
      <vt:lpstr>Rank all artists by the total value of their paintings?</vt:lpstr>
      <vt:lpstr>Find the museum with the highest total painting value?</vt:lpstr>
      <vt:lpstr>List top 5 artists by average painting price?</vt:lpstr>
      <vt:lpstr>Result and insight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Sweta Gupta</dc:creator>
  <cp:lastModifiedBy>Sweta Gupta</cp:lastModifiedBy>
  <cp:revision>2</cp:revision>
  <dcterms:created xsi:type="dcterms:W3CDTF">2025-10-05T16:27:47Z</dcterms:created>
  <dcterms:modified xsi:type="dcterms:W3CDTF">2026-02-20T11:19:09Z</dcterms:modified>
</cp:coreProperties>
</file>